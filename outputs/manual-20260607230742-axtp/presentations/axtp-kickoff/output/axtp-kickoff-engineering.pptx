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5daccca8d97444e" /><Relationship Type="http://schemas.openxmlformats.org/officeDocument/2006/relationships/extended-properties" Target="/docProps/app.xml" Id="R072f79805bd34249" /><Relationship Type="http://schemas.openxmlformats.org/officeDocument/2006/relationships/officeDocument" Target="/ppt/presentation.xml" Id="R4bd1bdcd5379499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bb9801e7b7d473e"/>
  </p:sldMasterIdLst>
  <p:notesMasterIdLst>
    <p:notesMasterId xmlns:r="http://schemas.openxmlformats.org/officeDocument/2006/relationships" r:id="R4fbfe39af1aa46ce"/>
  </p:notesMasterIdLst>
  <p:sldIdLst>
    <p:sldId xmlns:r="http://schemas.openxmlformats.org/officeDocument/2006/relationships" id="256" r:id="R046b944499f342c2"/>
    <p:sldId xmlns:r="http://schemas.openxmlformats.org/officeDocument/2006/relationships" id="257" r:id="R8b86d28019bb4f19"/>
    <p:sldId xmlns:r="http://schemas.openxmlformats.org/officeDocument/2006/relationships" id="258" r:id="Raa585a68a6d64fa5"/>
    <p:sldId xmlns:r="http://schemas.openxmlformats.org/officeDocument/2006/relationships" id="259" r:id="R15b8119b20b94b09"/>
    <p:sldId xmlns:r="http://schemas.openxmlformats.org/officeDocument/2006/relationships" id="260" r:id="R10635b8e8cf24abf"/>
    <p:sldId xmlns:r="http://schemas.openxmlformats.org/officeDocument/2006/relationships" id="261" r:id="R721839482c554ee0"/>
    <p:sldId xmlns:r="http://schemas.openxmlformats.org/officeDocument/2006/relationships" id="262" r:id="Ra52c17ffac6149ea"/>
    <p:sldId xmlns:r="http://schemas.openxmlformats.org/officeDocument/2006/relationships" id="263" r:id="Re4bcd89bc77d46d2"/>
    <p:sldId xmlns:r="http://schemas.openxmlformats.org/officeDocument/2006/relationships" id="264" r:id="R45cde759f7c94c02"/>
    <p:sldId xmlns:r="http://schemas.openxmlformats.org/officeDocument/2006/relationships" id="265" r:id="R6b571c602db94825"/>
    <p:sldId xmlns:r="http://schemas.openxmlformats.org/officeDocument/2006/relationships" id="266" r:id="R4c93299604c043fd"/>
    <p:sldId xmlns:r="http://schemas.openxmlformats.org/officeDocument/2006/relationships" id="267" r:id="R8e6b8116e34749a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0e5b4e169fb4a01" /><Relationship Type="http://schemas.openxmlformats.org/officeDocument/2006/relationships/slideMaster" Target="/ppt/slideMasters/slideMaster1.xml" Id="R8bb9801e7b7d473e" /><Relationship Type="http://schemas.openxmlformats.org/officeDocument/2006/relationships/notesMaster" Target="/ppt/notesMasters/notesMaster1.xml" Id="R4fbfe39af1aa46ce" /><Relationship Type="http://schemas.openxmlformats.org/officeDocument/2006/relationships/presProps" Target="/ppt/presProps.xml" Id="R5c90688cd3814185" /><Relationship Type="http://schemas.openxmlformats.org/officeDocument/2006/relationships/viewProps" Target="/ppt/viewProps.xml" Id="R65c248143e8f4ac2" /><Relationship Type="http://schemas.openxmlformats.org/officeDocument/2006/relationships/tableStyles" Target="/ppt/tableStyles.xml" Id="R8d5cb6f192f74178" /><Relationship Type="http://schemas.openxmlformats.org/officeDocument/2006/relationships/slide" Target="/ppt/slides/slide1.xml" Id="R046b944499f342c2" /><Relationship Type="http://schemas.openxmlformats.org/officeDocument/2006/relationships/slide" Target="/ppt/slides/slide2.xml" Id="R8b86d28019bb4f19" /><Relationship Type="http://schemas.openxmlformats.org/officeDocument/2006/relationships/slide" Target="/ppt/slides/slide3.xml" Id="Raa585a68a6d64fa5" /><Relationship Type="http://schemas.openxmlformats.org/officeDocument/2006/relationships/slide" Target="/ppt/slides/slide4.xml" Id="R15b8119b20b94b09" /><Relationship Type="http://schemas.openxmlformats.org/officeDocument/2006/relationships/slide" Target="/ppt/slides/slide5.xml" Id="R10635b8e8cf24abf" /><Relationship Type="http://schemas.openxmlformats.org/officeDocument/2006/relationships/slide" Target="/ppt/slides/slide6.xml" Id="R721839482c554ee0" /><Relationship Type="http://schemas.openxmlformats.org/officeDocument/2006/relationships/slide" Target="/ppt/slides/slide7.xml" Id="Ra52c17ffac6149ea" /><Relationship Type="http://schemas.openxmlformats.org/officeDocument/2006/relationships/slide" Target="/ppt/slides/slide8.xml" Id="Re4bcd89bc77d46d2" /><Relationship Type="http://schemas.openxmlformats.org/officeDocument/2006/relationships/slide" Target="/ppt/slides/slide9.xml" Id="R45cde759f7c94c02" /><Relationship Type="http://schemas.openxmlformats.org/officeDocument/2006/relationships/slide" Target="/ppt/slides/slide10.xml" Id="R6b571c602db94825" /><Relationship Type="http://schemas.openxmlformats.org/officeDocument/2006/relationships/slide" Target="/ppt/slides/slide11.xml" Id="R4c93299604c043fd" /><Relationship Type="http://schemas.openxmlformats.org/officeDocument/2006/relationships/slide" Target="/ppt/slides/slide12.xml" Id="R8e6b8116e34749a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08e57a16b1d47c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c576c3cee034789" /><Relationship Type="http://schemas.openxmlformats.org/officeDocument/2006/relationships/notesMaster" Target="/ppt/notesMasters/notesMaster1.xml" Id="Rd389395d8e964c8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3f5a5f31f4f4ffe" /><Relationship Type="http://schemas.openxmlformats.org/officeDocument/2006/relationships/notesMaster" Target="/ppt/notesMasters/notesMaster1.xml" Id="Rb151a0234281437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a79de16bf734b02" /><Relationship Type="http://schemas.openxmlformats.org/officeDocument/2006/relationships/notesMaster" Target="/ppt/notesMasters/notesMaster1.xml" Id="Ra51eea98cc9845d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7159c559a3a42d9" /><Relationship Type="http://schemas.openxmlformats.org/officeDocument/2006/relationships/notesMaster" Target="/ppt/notesMasters/notesMaster1.xml" Id="R92e8fbe10ec744f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5f949813c174489" /><Relationship Type="http://schemas.openxmlformats.org/officeDocument/2006/relationships/notesMaster" Target="/ppt/notesMasters/notesMaster1.xml" Id="R44b86b59b308451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5469201cdd74bc9" /><Relationship Type="http://schemas.openxmlformats.org/officeDocument/2006/relationships/notesMaster" Target="/ppt/notesMasters/notesMaster1.xml" Id="R07d50afe29c74e8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1df2779ebf146f5" /><Relationship Type="http://schemas.openxmlformats.org/officeDocument/2006/relationships/notesMaster" Target="/ppt/notesMasters/notesMaster1.xml" Id="R04e15d7d87c24b3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40b97a9ca404629" /><Relationship Type="http://schemas.openxmlformats.org/officeDocument/2006/relationships/notesMaster" Target="/ppt/notesMasters/notesMaster1.xml" Id="R650267a72498467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9f18bf541054cdd" /><Relationship Type="http://schemas.openxmlformats.org/officeDocument/2006/relationships/notesMaster" Target="/ppt/notesMasters/notesMaster1.xml" Id="Re7bcacbef1e9461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4fadfeea4654e50" /><Relationship Type="http://schemas.openxmlformats.org/officeDocument/2006/relationships/notesMaster" Target="/ppt/notesMasters/notesMaster1.xml" Id="R7b8542cbc863482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7fb2336ba60425e" /><Relationship Type="http://schemas.openxmlformats.org/officeDocument/2006/relationships/notesMaster" Target="/ppt/notesMasters/notesMaster1.xml" Id="Rc65d45cdcedc4a8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ea207aa79964b5b" /><Relationship Type="http://schemas.openxmlformats.org/officeDocument/2006/relationships/notesMaster" Target="/ppt/notesMasters/notesMaster1.xml" Id="Re15823958484497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2643cd87614ed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8f96771c7e74a95" /><Relationship Type="http://schemas.openxmlformats.org/officeDocument/2006/relationships/slideLayout" Target="/ppt/slideLayouts/slideLayout1.xml" Id="R85c49d610e9a451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5c49d610e9a451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3b199c26614d70" /><Relationship Type="http://schemas.openxmlformats.org/officeDocument/2006/relationships/notesSlide" Target="/ppt/notesSlides/notesSlide1.xml" Id="R68b53e772d10430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e59f5c246e4f5a" /><Relationship Type="http://schemas.openxmlformats.org/officeDocument/2006/relationships/notesSlide" Target="/ppt/notesSlides/notesSlide2.xml" Id="Rc6c98af615754de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799758d53d4a26" /><Relationship Type="http://schemas.openxmlformats.org/officeDocument/2006/relationships/notesSlide" Target="/ppt/notesSlides/notesSlide3.xml" Id="R8b206421e6d342b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c4f6639f124d82" /><Relationship Type="http://schemas.openxmlformats.org/officeDocument/2006/relationships/notesSlide" Target="/ppt/notesSlides/notesSlide4.xml" Id="R6d3dccaff447429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cab5423c034f67" /><Relationship Type="http://schemas.openxmlformats.org/officeDocument/2006/relationships/notesSlide" Target="/ppt/notesSlides/notesSlide5.xml" Id="R95641df2ff0f41b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bb3b47fb6f4bb2" /><Relationship Type="http://schemas.openxmlformats.org/officeDocument/2006/relationships/notesSlide" Target="/ppt/notesSlides/notesSlide6.xml" Id="Rc7bb23cdca284d4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9ff3bb9c024ce9" /><Relationship Type="http://schemas.openxmlformats.org/officeDocument/2006/relationships/notesSlide" Target="/ppt/notesSlides/notesSlide7.xml" Id="Rf07dd6618f7b4f2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d59037da684db6" /><Relationship Type="http://schemas.openxmlformats.org/officeDocument/2006/relationships/notesSlide" Target="/ppt/notesSlides/notesSlide8.xml" Id="Rb76540d9062e41e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0c2d1f385c4074" /><Relationship Type="http://schemas.openxmlformats.org/officeDocument/2006/relationships/notesSlide" Target="/ppt/notesSlides/notesSlide9.xml" Id="R5a3f13178012416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8255e4c28045cc" /><Relationship Type="http://schemas.openxmlformats.org/officeDocument/2006/relationships/notesSlide" Target="/ppt/notesSlides/notesSlide10.xml" Id="R5468ceb0441c481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a2720e90db40bb" /><Relationship Type="http://schemas.openxmlformats.org/officeDocument/2006/relationships/notesSlide" Target="/ppt/notesSlides/notesSlide11.xml" Id="Rbb6ec1057ffd4ea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743eed173d4d6f" /><Relationship Type="http://schemas.openxmlformats.org/officeDocument/2006/relationships/notesSlide" Target="/ppt/notesSlides/notesSlide12.xml" Id="R0a95a8bdb1ff45e4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A81B196-7B4F-41D3-BFBD-628BF052C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7A441D-584D-45A2-BACB-152F122AA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C9F0"/>
          </a:solidFill>
          <a:ln xmlns:a="http://schemas.openxmlformats.org/drawingml/2006/main" w="0">
            <a:solidFill>
              <a:srgbClr val="4CC9F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7DAB90-366B-4066-BA70-821D42EB3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E6AC"/>
          </a:solidFill>
          <a:ln xmlns:a="http://schemas.openxmlformats.org/drawingml/2006/main" w="0">
            <a:solidFill>
              <a:srgbClr val="62E6A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DF418B-B250-47F7-A435-64E1A284F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23900"/>
            <a:ext cx="4953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EFF6FF"/>
                </a:solidFill>
                <a:latin typeface="PingFang SC"/>
                <a:ea typeface="PingFang SC"/>
                <a:cs typeface="PingFang SC"/>
              </a:defRPr>
            </a:pPr>
            <a:r>
              <a:rPr sz="5400" b="1">
                <a:solidFill>
                  <a:srgbClr val="EFF6FF"/>
                </a:solidFill>
                <a:latin typeface="PingFang SC"/>
                <a:ea typeface="PingFang SC"/>
                <a:cs typeface="PingFang SC"/>
              </a:rPr>
              <a:t>AXTP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C36E23-71A3-4769-830B-C93225380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09750"/>
            <a:ext cx="285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4CC9F0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4CC9F0"/>
                </a:solidFill>
                <a:latin typeface="PingFang SC"/>
                <a:ea typeface="PingFang SC"/>
                <a:cs typeface="PingFang SC"/>
              </a:rPr>
              <a:t>Kickoff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E6C239-D06D-4807-B351-0896B07A3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0"/>
            <a:ext cx="590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FF6FF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EFF6FF"/>
                </a:solidFill>
                <a:latin typeface="PingFang SC"/>
                <a:ea typeface="PingFang SC"/>
                <a:cs typeface="PingFang SC"/>
              </a:rPr>
              <a:t>为什么改、怎么用、如何推进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E4889D-B301-4C36-8118-956E4792E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6858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93A4B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93A4B8"/>
                </a:solidFill>
                <a:latin typeface="PingFang SC"/>
                <a:ea typeface="PingFang SC"/>
                <a:cs typeface="PingFang SC"/>
              </a:rPr>
              <a:t>面向产品、研发、测试、runtime、SDK、mock server 与发布的统一协议生命周期。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1B6837-A823-4019-8E85-A9F6E2AF1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181100"/>
            <a:ext cx="32194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A2E"/>
          </a:solidFill>
          <a:ln xmlns:a="http://schemas.openxmlformats.org/drawingml/2006/main" w="9525">
            <a:solidFill>
              <a:srgbClr val="253B5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2D3E6A-A82E-42B1-A6D3-6458427CD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381125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CC9F0"/>
                </a:solidFill>
                <a:latin typeface="Menlo"/>
                <a:ea typeface="Menlo"/>
                <a:cs typeface="Menlo"/>
              </a:defRPr>
            </a:pPr>
            <a:r>
              <a:rPr sz="1350" b="1">
                <a:solidFill>
                  <a:srgbClr val="4CC9F0"/>
                </a:solidFill>
                <a:latin typeface="Menlo"/>
                <a:ea typeface="Menlo"/>
                <a:cs typeface="Menlo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5BDEB2-2DEB-4FC3-BA8C-136DEC674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314450"/>
            <a:ext cx="2190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FF6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EFF6FF"/>
                </a:solidFill>
                <a:latin typeface="PingFang SC"/>
                <a:ea typeface="PingFang SC"/>
                <a:cs typeface="PingFang SC"/>
              </a:rPr>
              <a:t>为什么改成 AXTP？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FD338C-587E-4CC8-9704-1A5D83601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171700"/>
            <a:ext cx="32194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A2E"/>
          </a:solidFill>
          <a:ln xmlns:a="http://schemas.openxmlformats.org/drawingml/2006/main" w="9525">
            <a:solidFill>
              <a:srgbClr val="253B5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B3494D-137F-440C-9666-FA934D7C8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371725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2E6AC"/>
                </a:solidFill>
                <a:latin typeface="Menlo"/>
                <a:ea typeface="Menlo"/>
                <a:cs typeface="Menlo"/>
              </a:defRPr>
            </a:pPr>
            <a:r>
              <a:rPr sz="1350" b="1">
                <a:solidFill>
                  <a:srgbClr val="62E6AC"/>
                </a:solidFill>
                <a:latin typeface="Menlo"/>
                <a:ea typeface="Menlo"/>
                <a:cs typeface="Menl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006F75-C93E-4E2C-9C7E-9F82B91B7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305050"/>
            <a:ext cx="2190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FF6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EFF6FF"/>
                </a:solidFill>
                <a:latin typeface="PingFang SC"/>
                <a:ea typeface="PingFang SC"/>
                <a:cs typeface="PingFang SC"/>
              </a:rPr>
              <a:t>AXTP 是什么，为什么能解决旧问题？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A7093E-5ECC-4332-8B30-507BBC7C1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162300"/>
            <a:ext cx="32194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A2E"/>
          </a:solidFill>
          <a:ln xmlns:a="http://schemas.openxmlformats.org/drawingml/2006/main" w="9525">
            <a:solidFill>
              <a:srgbClr val="253B5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85ED40-BB9E-41C8-926E-B8D2BD898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362325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B86B"/>
                </a:solidFill>
                <a:latin typeface="Menlo"/>
                <a:ea typeface="Menlo"/>
                <a:cs typeface="Menlo"/>
              </a:defRPr>
            </a:pPr>
            <a:r>
              <a:rPr sz="1350" b="1">
                <a:solidFill>
                  <a:srgbClr val="FFB86B"/>
                </a:solidFill>
                <a:latin typeface="Menlo"/>
                <a:ea typeface="Menlo"/>
                <a:cs typeface="Menlo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C2F2B1-B221-4B87-A7A9-8BF5C426E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295650"/>
            <a:ext cx="2190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FF6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EFF6FF"/>
                </a:solidFill>
                <a:latin typeface="PingFang SC"/>
                <a:ea typeface="PingFang SC"/>
                <a:cs typeface="PingFang SC"/>
              </a:rPr>
              <a:t>各个角色怎么用？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D6DEB7-08AF-4B17-BFDC-E9C1CC428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152900"/>
            <a:ext cx="32194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A2E"/>
          </a:solidFill>
          <a:ln xmlns:a="http://schemas.openxmlformats.org/drawingml/2006/main" w="9525">
            <a:solidFill>
              <a:srgbClr val="253B5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7B0347-C7CB-46EA-9AC5-EBE5DC6DE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352925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6B8A"/>
                </a:solidFill>
                <a:latin typeface="Menlo"/>
                <a:ea typeface="Menlo"/>
                <a:cs typeface="Menlo"/>
              </a:defRPr>
            </a:pPr>
            <a:r>
              <a:rPr sz="1350" b="1">
                <a:solidFill>
                  <a:srgbClr val="FF6B8A"/>
                </a:solidFill>
                <a:latin typeface="Menlo"/>
                <a:ea typeface="Menlo"/>
                <a:cs typeface="Menlo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0AF765-A07A-4AA4-BF9B-7B976D95E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286250"/>
            <a:ext cx="2190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FF6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EFF6FF"/>
                </a:solidFill>
                <a:latin typeface="PingFang SC"/>
                <a:ea typeface="PingFang SC"/>
                <a:cs typeface="PingFang SC"/>
              </a:rPr>
              <a:t>后续怎么推进，Roadmap 如何？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FF9CC4-6ADB-488A-80BC-A6C09EAAA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2865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748E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F748E"/>
                </a:solidFill>
                <a:latin typeface="PingFang SC"/>
                <a:ea typeface="PingFang SC"/>
                <a:cs typeface="PingFang SC"/>
              </a:rPr>
              <a:t>Source: KICKOFF.md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CECC7D5-C433-466E-8848-9EA13590E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286500"/>
            <a:ext cx="38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748E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5F748E"/>
                </a:solidFill>
                <a:latin typeface="Menlo"/>
                <a:ea typeface="Menlo"/>
                <a:cs typeface="Menlo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14878075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5AF689D-8790-4265-A906-0AEDB511F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E6F1E8-1B5B-4561-AA4B-26B82DF7E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253B5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0F28D8-1A33-4872-8A2A-6737E5AE7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57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C9F0"/>
          </a:solidFill>
          <a:ln xmlns:a="http://schemas.openxmlformats.org/drawingml/2006/main" w="0">
            <a:solidFill>
              <a:srgbClr val="4CC9F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1F72FC-E98E-4DA7-A4B3-B9F9F9238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" y="0"/>
            <a:ext cx="4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E6AC"/>
          </a:solidFill>
          <a:ln xmlns:a="http://schemas.openxmlformats.org/drawingml/2006/main" w="0">
            <a:solidFill>
              <a:srgbClr val="62E6A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E3B09F-283B-4B42-9129-6548D82A1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466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1430">
            <a:solidFill>
              <a:srgbClr val="4CC9F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4F0F04-8EA9-4361-8C3A-B11D56528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7200"/>
            <a:ext cx="1276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CC9F0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4CC9F0"/>
                </a:solidFill>
                <a:latin typeface="PingFang SC"/>
                <a:ea typeface="PingFang SC"/>
                <a:cs typeface="PingFang SC"/>
              </a:rPr>
              <a:t>WHY NOW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060E2C-43CB-444F-BBED-248A3A6E9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8191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EFF6FF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EFF6FF"/>
                </a:solidFill>
                <a:latin typeface="PingFang SC"/>
                <a:ea typeface="PingFang SC"/>
                <a:cs typeface="PingFang SC"/>
              </a:rPr>
              <a:t>旧协议的问题不是字段不好看，而是生产方式撑不住了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28F03E-EB41-40AC-81F1-95205C03C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748E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F748E"/>
                </a:solidFill>
                <a:latin typeface="PingFang SC"/>
                <a:ea typeface="PingFang SC"/>
                <a:cs typeface="PingFang SC"/>
              </a:rPr>
              <a:t>AXTP Kickoff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3D8578-D836-4080-98D6-9852FCEE6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286500"/>
            <a:ext cx="38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748E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5F748E"/>
                </a:solidFill>
                <a:latin typeface="Menlo"/>
                <a:ea typeface="Menlo"/>
                <a:cs typeface="Menlo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35230A-1A55-449B-95B6-684AA80EB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15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3B5C"/>
          </a:solidFill>
          <a:ln xmlns:a="http://schemas.openxmlformats.org/drawingml/2006/main" w="0">
            <a:solidFill>
              <a:srgbClr val="253B5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FF8715-6260-4075-89C0-9CDF382FA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76400"/>
            <a:ext cx="91630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944"/>
          </a:solidFill>
          <a:ln xmlns:a="http://schemas.openxmlformats.org/drawingml/2006/main" w="9525">
            <a:solidFill>
              <a:srgbClr val="253B5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091AAA-4B24-4378-BB31-B82981F81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90700"/>
            <a:ext cx="1428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CC9F0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4CC9F0"/>
                </a:solidFill>
                <a:latin typeface="PingFang SC"/>
                <a:ea typeface="PingFang SC"/>
                <a:cs typeface="PingFang SC"/>
              </a:rPr>
              <a:t>问题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82F6A4-DB6D-4879-99D5-AD16F2336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752600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276"/>
          </a:solidFill>
          <a:ln xmlns:a="http://schemas.openxmlformats.org/drawingml/2006/main" w="0">
            <a:solidFill>
              <a:srgbClr val="35527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CADF57-2A40-42DD-AD54-ECDDB49B2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1790700"/>
            <a:ext cx="42672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FF6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EFF6FF"/>
                </a:solidFill>
                <a:latin typeface="PingFang SC"/>
                <a:ea typeface="PingFang SC"/>
                <a:cs typeface="PingFang SC"/>
              </a:rPr>
              <a:t>典型表现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7C5AE2-B4CF-43E7-941C-A35C62C5D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752600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276"/>
          </a:solidFill>
          <a:ln xmlns:a="http://schemas.openxmlformats.org/drawingml/2006/main" w="0">
            <a:solidFill>
              <a:srgbClr val="35527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8A84C0-7157-495F-A3F7-7EB9C9D7D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790700"/>
            <a:ext cx="2781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2E6AC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62E6AC"/>
                </a:solidFill>
                <a:latin typeface="PingFang SC"/>
                <a:ea typeface="PingFang SC"/>
                <a:cs typeface="PingFang SC"/>
              </a:rPr>
              <a:t>后果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EAB152-3AEB-44BE-972E-2F921E028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66950"/>
            <a:ext cx="91630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A2E"/>
          </a:solidFill>
          <a:ln xmlns:a="http://schemas.openxmlformats.org/drawingml/2006/main" w="9525">
            <a:solidFill>
              <a:srgbClr val="253B5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002372-9AC4-484F-871B-E3F4578D3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81250"/>
            <a:ext cx="1428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CC9F0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4CC9F0"/>
                </a:solidFill>
                <a:latin typeface="PingFang SC"/>
                <a:ea typeface="PingFang SC"/>
                <a:cs typeface="PingFang SC"/>
              </a:rPr>
              <a:t>事实分散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242FA6-2715-404E-B1C0-884C0A20D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343150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276"/>
          </a:solidFill>
          <a:ln xmlns:a="http://schemas.openxmlformats.org/drawingml/2006/main" w="0">
            <a:solidFill>
              <a:srgbClr val="35527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B90214-0FBA-4BB9-8EC7-601242029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381250"/>
            <a:ext cx="42672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EFF6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EFF6FF"/>
                </a:solidFill>
                <a:latin typeface="PingFang SC"/>
                <a:ea typeface="PingFang SC"/>
                <a:cs typeface="PingFang SC"/>
              </a:rPr>
              <a:t>Word / Excel / 固件宏 / 客户端常量各写一份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46129A-FC12-4429-B3FF-CA47B590E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343150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276"/>
          </a:solidFill>
          <a:ln xmlns:a="http://schemas.openxmlformats.org/drawingml/2006/main" w="0">
            <a:solidFill>
              <a:srgbClr val="35527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EB53ACD-42C7-4754-BD7D-1EAE8DAEF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381250"/>
            <a:ext cx="2781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2E6AC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2E6AC"/>
                </a:solidFill>
                <a:latin typeface="PingFang SC"/>
                <a:ea typeface="PingFang SC"/>
                <a:cs typeface="PingFang SC"/>
              </a:rPr>
              <a:t>变更要人工同步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6412047-B4FB-4BFE-A001-DF25E2D6C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57500"/>
            <a:ext cx="91630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A"/>
          </a:solidFill>
          <a:ln xmlns:a="http://schemas.openxmlformats.org/drawingml/2006/main" w="9525">
            <a:solidFill>
              <a:srgbClr val="253B5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8107716-90D3-4213-AFA2-1D555A0D7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71800"/>
            <a:ext cx="1428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CC9F0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4CC9F0"/>
                </a:solidFill>
                <a:latin typeface="PingFang SC"/>
                <a:ea typeface="PingFang SC"/>
                <a:cs typeface="PingFang SC"/>
              </a:rPr>
              <a:t>传输割裂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940E6A4-82DD-441B-BCE1-DFD9AA90D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933700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276"/>
          </a:solidFill>
          <a:ln xmlns:a="http://schemas.openxmlformats.org/drawingml/2006/main" w="0">
            <a:solidFill>
              <a:srgbClr val="35527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528917B-84AC-4564-81D1-8BB2DA97E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971800"/>
            <a:ext cx="42672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EFF6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EFF6FF"/>
                </a:solidFill>
                <a:latin typeface="PingFang SC"/>
                <a:ea typeface="PingFang SC"/>
                <a:cs typeface="PingFang SC"/>
              </a:rPr>
              <a:t>HID / TCP / WebSocket / HTTP / BLE 语义各不相同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8B7BAC5-9FDE-4D54-AFFE-E024D868A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933700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276"/>
          </a:solidFill>
          <a:ln xmlns:a="http://schemas.openxmlformats.org/drawingml/2006/main" w="0">
            <a:solidFill>
              <a:srgbClr val="35527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25EFA67-C6FB-4A8B-9BD6-A7BC940FD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971800"/>
            <a:ext cx="2781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2E6AC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2E6AC"/>
                </a:solidFill>
                <a:latin typeface="PingFang SC"/>
                <a:ea typeface="PingFang SC"/>
                <a:cs typeface="PingFang SC"/>
              </a:rPr>
              <a:t>同一能力行为不一致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FC4C87C-C5A3-4595-B317-0370A79FB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48050"/>
            <a:ext cx="91630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A2E"/>
          </a:solidFill>
          <a:ln xmlns:a="http://schemas.openxmlformats.org/drawingml/2006/main" w="9525">
            <a:solidFill>
              <a:srgbClr val="253B5C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9A3B561-FCBE-415A-A1A1-E6083434C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62350"/>
            <a:ext cx="1428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CC9F0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4CC9F0"/>
                </a:solidFill>
                <a:latin typeface="PingFang SC"/>
                <a:ea typeface="PingFang SC"/>
                <a:cs typeface="PingFang SC"/>
              </a:rPr>
              <a:t>能力混乱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9C14C8F-368C-4CC1-A1F4-C7324B610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524250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276"/>
          </a:solidFill>
          <a:ln xmlns:a="http://schemas.openxmlformats.org/drawingml/2006/main" w="0">
            <a:solidFill>
              <a:srgbClr val="355276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73D64DE-5B72-4612-B21C-9EDD15F1C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562350"/>
            <a:ext cx="42672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EFF6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EFF6FF"/>
                </a:solidFill>
                <a:latin typeface="PingFang SC"/>
                <a:ea typeface="PingFang SC"/>
                <a:cs typeface="PingFang SC"/>
              </a:rPr>
              <a:t>控制、事件、流、升级塞进业务命令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8A5C97B-20E6-4FC8-8A0C-24AADF7D1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524250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276"/>
          </a:solidFill>
          <a:ln xmlns:a="http://schemas.openxmlformats.org/drawingml/2006/main" w="0">
            <a:solidFill>
              <a:srgbClr val="355276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57C0AB2-EF4E-4A30-8F86-501AD4CF9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562350"/>
            <a:ext cx="2781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2E6AC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2E6AC"/>
                </a:solidFill>
                <a:latin typeface="PingFang SC"/>
                <a:ea typeface="PingFang SC"/>
                <a:cs typeface="PingFang SC"/>
              </a:rPr>
              <a:t>边界不清，测试难覆盖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B7FA948-EF84-4CEB-A4F5-9ADFD3652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38600"/>
            <a:ext cx="91630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A"/>
          </a:solidFill>
          <a:ln xmlns:a="http://schemas.openxmlformats.org/drawingml/2006/main" w="9525">
            <a:solidFill>
              <a:srgbClr val="253B5C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9A1405B-83B0-4BCF-9872-A30F49441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52900"/>
            <a:ext cx="1428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CC9F0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4CC9F0"/>
                </a:solidFill>
                <a:latin typeface="PingFang SC"/>
                <a:ea typeface="PingFang SC"/>
                <a:cs typeface="PingFang SC"/>
              </a:rPr>
              <a:t>SDK 临时交付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8E16260-B1AF-4975-8C25-8A0798D87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114800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276"/>
          </a:solidFill>
          <a:ln xmlns:a="http://schemas.openxmlformats.org/drawingml/2006/main" w="0">
            <a:solidFill>
              <a:srgbClr val="355276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A1336E2-C698-4778-A009-0D8144DCA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152900"/>
            <a:ext cx="42672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EFF6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EFF6FF"/>
                </a:solidFill>
                <a:latin typeface="PingFang SC"/>
                <a:ea typeface="PingFang SC"/>
                <a:cs typeface="PingFang SC"/>
              </a:rPr>
              <a:t>客户要统一 SDK 时再补文档、示例、测试说明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17E36DC-A75F-44FC-BDFB-6AF45858C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114800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276"/>
          </a:solidFill>
          <a:ln xmlns:a="http://schemas.openxmlformats.org/drawingml/2006/main" w="0">
            <a:solidFill>
              <a:srgbClr val="355276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24BBB17-8EE4-4854-80E0-B0AB92277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152900"/>
            <a:ext cx="2781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2E6AC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2E6AC"/>
                </a:solidFill>
                <a:latin typeface="PingFang SC"/>
                <a:ea typeface="PingFang SC"/>
                <a:cs typeface="PingFang SC"/>
              </a:rPr>
              <a:t>周期不可控，支持成本高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915976D-6C33-4DCA-B59C-3D346BE94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29150"/>
            <a:ext cx="91630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A2E"/>
          </a:solidFill>
          <a:ln xmlns:a="http://schemas.openxmlformats.org/drawingml/2006/main" w="9525">
            <a:solidFill>
              <a:srgbClr val="253B5C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23AB8B9-E3DB-4347-BB79-A4C7D16D8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43450"/>
            <a:ext cx="1428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CC9F0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4CC9F0"/>
                </a:solidFill>
                <a:latin typeface="PingFang SC"/>
                <a:ea typeface="PingFang SC"/>
                <a:cs typeface="PingFang SC"/>
              </a:rPr>
              <a:t>迁移无路径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E63247A-2EDE-4681-AF31-DCF2DE12E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705350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276"/>
          </a:solidFill>
          <a:ln xmlns:a="http://schemas.openxmlformats.org/drawingml/2006/main" w="0">
            <a:solidFill>
              <a:srgbClr val="355276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7D52EAE-0B67-43C2-AB1C-96C978D94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743450"/>
            <a:ext cx="42672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EFF6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EFF6FF"/>
                </a:solidFill>
                <a:latin typeface="PingFang SC"/>
                <a:ea typeface="PingFang SC"/>
                <a:cs typeface="PingFang SC"/>
              </a:rPr>
              <a:t>AXDP、Rooms、VM33、Signage 各有历史包袱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E29E396-20BA-4B20-8AB5-261E399BF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705350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276"/>
          </a:solidFill>
          <a:ln xmlns:a="http://schemas.openxmlformats.org/drawingml/2006/main" w="0">
            <a:solidFill>
              <a:srgbClr val="355276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F4B0857-5AC0-493C-9E48-DA537146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743450"/>
            <a:ext cx="2781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2E6AC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2E6AC"/>
                </a:solidFill>
                <a:latin typeface="PingFang SC"/>
                <a:ea typeface="PingFang SC"/>
                <a:cs typeface="PingFang SC"/>
              </a:rPr>
              <a:t>每个项目重新设计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5A38F9D-2C39-4B3F-A329-86E4B7C39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29250"/>
            <a:ext cx="7715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FF6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EFF6FF"/>
                </a:solidFill>
                <a:latin typeface="PingFang SC"/>
                <a:ea typeface="PingFang SC"/>
                <a:cs typeface="PingFang SC"/>
              </a:rPr>
              <a:t>外部驱动：客户需要统一 SDK、稳定协议参考、跨端行为一致和可验证交付。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64B5C09-BE29-42A6-9E54-1218B316C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72150"/>
            <a:ext cx="876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3A4B8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93A4B8"/>
                </a:solidFill>
                <a:latin typeface="PingFang SC"/>
                <a:ea typeface="PingFang SC"/>
                <a:cs typeface="PingFang SC"/>
              </a:rPr>
              <a:t>内部驱动：已有产品验证过，统一、清晰、低延迟的交互协议会让设备和软件协作更丝滑。</a:t>
            </a:r>
          </a:p>
        </p:txBody>
      </p:sp>
    </p:spTree>
    <p:extLst>
      <p:ext uri="{BB962C8B-B14F-4D97-AF65-F5344CB8AC3E}">
        <p14:creationId xmlns:p14="http://schemas.microsoft.com/office/powerpoint/2010/main" val="10285116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7A4DF80-DB81-4AE5-9F1F-DE145CCC5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9768E2-BCD0-4297-9ABC-8F9023181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253B5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A941E2-D22C-482D-84BD-3907A4D89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57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C9F0"/>
          </a:solidFill>
          <a:ln xmlns:a="http://schemas.openxmlformats.org/drawingml/2006/main" w="0">
            <a:solidFill>
              <a:srgbClr val="4CC9F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5A2D6C-3237-4BC9-9E7D-EFA26C192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" y="0"/>
            <a:ext cx="4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E6AC"/>
          </a:solidFill>
          <a:ln xmlns:a="http://schemas.openxmlformats.org/drawingml/2006/main" w="0">
            <a:solidFill>
              <a:srgbClr val="62E6A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6356CB-9273-4EC8-8924-34F25CDAB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466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1430">
            <a:solidFill>
              <a:srgbClr val="4CC9F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94A8A7-ABC1-4008-88B7-E1086E552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7200"/>
            <a:ext cx="1276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CC9F0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4CC9F0"/>
                </a:solidFill>
                <a:latin typeface="PingFang SC"/>
                <a:ea typeface="PingFang SC"/>
                <a:cs typeface="PingFang SC"/>
              </a:rPr>
              <a:t>ROOT CAUSE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A5AB7E-88BA-49AE-9CA9-F9E4E2ECC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8191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EFF6FF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EFF6FF"/>
                </a:solidFill>
                <a:latin typeface="PingFang SC"/>
                <a:ea typeface="PingFang SC"/>
                <a:cs typeface="PingFang SC"/>
              </a:rPr>
              <a:t>根因是旧协议把四件事绑在了一起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D0A112-5921-442C-BB12-407AEF0A7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748E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F748E"/>
                </a:solidFill>
                <a:latin typeface="PingFang SC"/>
                <a:ea typeface="PingFang SC"/>
                <a:cs typeface="PingFang SC"/>
              </a:rPr>
              <a:t>AXTP Kickoff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F96283-D506-41FE-BA54-FA08536E0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286500"/>
            <a:ext cx="38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748E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5F748E"/>
                </a:solidFill>
                <a:latin typeface="Menlo"/>
                <a:ea typeface="Menlo"/>
                <a:cs typeface="Menlo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34B57D-537B-438E-9A05-AF18C7F08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15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3B5C"/>
          </a:solidFill>
          <a:ln xmlns:a="http://schemas.openxmlformats.org/drawingml/2006/main" w="0">
            <a:solidFill>
              <a:srgbClr val="253B5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DD86FE-EDFC-4E4D-B37E-1C1F1D9C6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657350"/>
            <a:ext cx="971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EFF6FF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EFF6FF"/>
                </a:solidFill>
                <a:latin typeface="PingFang SC"/>
                <a:ea typeface="PingFang SC"/>
                <a:cs typeface="PingFang SC"/>
              </a:rPr>
              <a:t>旧协议把“怎么传”“传什么”“谁来实现”“怎么验收”绑在了一起。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F52C94-B156-4E01-893C-569D336AE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724150"/>
            <a:ext cx="21717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A2E"/>
          </a:solidFill>
          <a:ln xmlns:a="http://schemas.openxmlformats.org/drawingml/2006/main" w="9525">
            <a:solidFill>
              <a:srgbClr val="253B5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72A490-A605-4E4B-B0C8-04F3C639F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724150"/>
            <a:ext cx="47625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C9F0"/>
          </a:solidFill>
          <a:ln xmlns:a="http://schemas.openxmlformats.org/drawingml/2006/main" w="0">
            <a:solidFill>
              <a:srgbClr val="4CC9F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CD8803-9F67-4BCD-9241-647367F92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857500"/>
            <a:ext cx="1866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CC9F0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4CC9F0"/>
                </a:solidFill>
                <a:latin typeface="PingFang SC"/>
                <a:ea typeface="PingFang SC"/>
                <a:cs typeface="PingFang SC"/>
              </a:rPr>
              <a:t>怎么传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5A32D9-D3B1-4DA3-9BD7-F0DC976C0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143250"/>
            <a:ext cx="18669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EFF6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EFF6FF"/>
                </a:solidFill>
                <a:latin typeface="PingFang SC"/>
                <a:ea typeface="PingFang SC"/>
                <a:cs typeface="PingFang SC"/>
              </a:rPr>
              <a:t>HID / TCP / WS / BLE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0FFF83-73C1-4419-A29B-CD5E865C3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324100"/>
            <a:ext cx="19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C9F0"/>
          </a:solidFill>
          <a:ln xmlns:a="http://schemas.openxmlformats.org/drawingml/2006/main" w="0">
            <a:solidFill>
              <a:srgbClr val="4CC9F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B6037E-442D-4ABF-AF1B-5A547EBC7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724150"/>
            <a:ext cx="21717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A2E"/>
          </a:solidFill>
          <a:ln xmlns:a="http://schemas.openxmlformats.org/drawingml/2006/main" w="9525">
            <a:solidFill>
              <a:srgbClr val="253B5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E73297-7BC4-4CC2-8CEB-ADFF7A525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724150"/>
            <a:ext cx="47625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E6AC"/>
          </a:solidFill>
          <a:ln xmlns:a="http://schemas.openxmlformats.org/drawingml/2006/main" w="0">
            <a:solidFill>
              <a:srgbClr val="62E6A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D18523-1E43-4B15-912F-F6685831F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857500"/>
            <a:ext cx="1866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2E6AC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62E6AC"/>
                </a:solidFill>
                <a:latin typeface="PingFang SC"/>
                <a:ea typeface="PingFang SC"/>
                <a:cs typeface="PingFang SC"/>
              </a:rPr>
              <a:t>传什么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490B4E-0AAB-42BB-B921-BD7C51D93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143250"/>
            <a:ext cx="18669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EFF6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EFF6FF"/>
                </a:solidFill>
                <a:latin typeface="PingFang SC"/>
                <a:ea typeface="PingFang SC"/>
                <a:cs typeface="PingFang SC"/>
              </a:rPr>
              <a:t>命令 / 事件 / 流 / 升级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BE6AB8-50DA-45C3-8A1A-92287A21B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324100"/>
            <a:ext cx="19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E6AC"/>
          </a:solidFill>
          <a:ln xmlns:a="http://schemas.openxmlformats.org/drawingml/2006/main" w="0">
            <a:solidFill>
              <a:srgbClr val="62E6A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72E3EAD-3B96-4D18-AA5A-F6CC12263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724150"/>
            <a:ext cx="21717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A2E"/>
          </a:solidFill>
          <a:ln xmlns:a="http://schemas.openxmlformats.org/drawingml/2006/main" w="9525">
            <a:solidFill>
              <a:srgbClr val="253B5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E1F20ED-79BE-4368-9471-F470DA7E4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724150"/>
            <a:ext cx="47625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6B"/>
          </a:solidFill>
          <a:ln xmlns:a="http://schemas.openxmlformats.org/drawingml/2006/main" w="0">
            <a:solidFill>
              <a:srgbClr val="FFB86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26FDEB6-9B24-4895-98B9-2D654ADBB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857500"/>
            <a:ext cx="1866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B86B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B86B"/>
                </a:solidFill>
                <a:latin typeface="PingFang SC"/>
                <a:ea typeface="PingFang SC"/>
                <a:cs typeface="PingFang SC"/>
              </a:rPr>
              <a:t>谁实现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D441306-2212-4692-B2E9-AB236A157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143250"/>
            <a:ext cx="18669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EFF6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EFF6FF"/>
                </a:solidFill>
                <a:latin typeface="PingFang SC"/>
                <a:ea typeface="PingFang SC"/>
                <a:cs typeface="PingFang SC"/>
              </a:rPr>
              <a:t>固件 / App / 云端 / SDK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53C1CE3-95D7-4FBC-A835-0C31CEA2C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324100"/>
            <a:ext cx="19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6B"/>
          </a:solidFill>
          <a:ln xmlns:a="http://schemas.openxmlformats.org/drawingml/2006/main" w="0">
            <a:solidFill>
              <a:srgbClr val="FFB86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033DDC1-6B74-4481-BB18-05D4C5B17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724150"/>
            <a:ext cx="21717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A2E"/>
          </a:solidFill>
          <a:ln xmlns:a="http://schemas.openxmlformats.org/drawingml/2006/main" w="9525">
            <a:solidFill>
              <a:srgbClr val="253B5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077AF6C-EE54-411F-8ED2-081C170D7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724150"/>
            <a:ext cx="47625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8A"/>
          </a:solidFill>
          <a:ln xmlns:a="http://schemas.openxmlformats.org/drawingml/2006/main" w="0">
            <a:solidFill>
              <a:srgbClr val="FF6B8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1DBD131-E158-4A48-A0CC-A1E03A906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857500"/>
            <a:ext cx="1866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6B8A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6B8A"/>
                </a:solidFill>
                <a:latin typeface="PingFang SC"/>
                <a:ea typeface="PingFang SC"/>
                <a:cs typeface="PingFang SC"/>
              </a:rPr>
              <a:t>怎么验收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BF1018A-97FC-4EC1-956C-8DD5B7025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143250"/>
            <a:ext cx="18669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EFF6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EFF6FF"/>
                </a:solidFill>
                <a:latin typeface="PingFang SC"/>
                <a:ea typeface="PingFang SC"/>
                <a:cs typeface="PingFang SC"/>
              </a:rPr>
              <a:t>测试脚本 / 联调 / 客户反馈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99C922E-520D-4ED6-AC3A-13463692D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2324100"/>
            <a:ext cx="19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8A"/>
          </a:solidFill>
          <a:ln xmlns:a="http://schemas.openxmlformats.org/drawingml/2006/main" w="0">
            <a:solidFill>
              <a:srgbClr val="FF6B8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1A3BF4E-08C8-47F3-8836-B9CA6E5BF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533900"/>
            <a:ext cx="91059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A"/>
          </a:solidFill>
          <a:ln xmlns:a="http://schemas.openxmlformats.org/drawingml/2006/main" w="9525">
            <a:solidFill>
              <a:srgbClr val="253B5C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EDE0C2B-49AD-4EF1-B65A-67829F882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705350"/>
            <a:ext cx="84963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EFF6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EFF6FF"/>
                </a:solidFill>
                <a:latin typeface="PingFang SC"/>
                <a:ea typeface="PingFang SC"/>
                <a:cs typeface="PingFang SC"/>
              </a:rPr>
              <a:t>产品线变多后，一个字段变化会同时牵动固件、App、上位机、云端、SDK、测试、mock server 和客户文档。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88BD0B9-15A1-40B3-BC11-B52AC835F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467350"/>
            <a:ext cx="6477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4CC9F0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4CC9F0"/>
                </a:solidFill>
                <a:latin typeface="PingFang SC"/>
                <a:ea typeface="PingFang SC"/>
                <a:cs typeface="PingFang SC"/>
              </a:rPr>
              <a:t>所以改版的重点不是重画包头，而是建立稳定的协议边界。</a:t>
            </a:r>
          </a:p>
        </p:txBody>
      </p:sp>
    </p:spTree>
    <p:extLst>
      <p:ext uri="{BB962C8B-B14F-4D97-AF65-F5344CB8AC3E}">
        <p14:creationId xmlns:p14="http://schemas.microsoft.com/office/powerpoint/2010/main" val="27182019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00677D5-72CB-4C70-9FB5-B3C0CCE84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FEFDFC-A0CE-4CE0-A4B3-464DF00E1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253B5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4C37A8-5FE9-4D07-B4C3-122B1FAD2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57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C9F0"/>
          </a:solidFill>
          <a:ln xmlns:a="http://schemas.openxmlformats.org/drawingml/2006/main" w="0">
            <a:solidFill>
              <a:srgbClr val="4CC9F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DE8758-2DB9-4E68-8D2C-35FC9F260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" y="0"/>
            <a:ext cx="4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E6AC"/>
          </a:solidFill>
          <a:ln xmlns:a="http://schemas.openxmlformats.org/drawingml/2006/main" w="0">
            <a:solidFill>
              <a:srgbClr val="62E6A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FB05C3-0214-45AD-B996-11D68C6AB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466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1430">
            <a:solidFill>
              <a:srgbClr val="4CC9F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BB6EE5-84BC-4734-889A-784CDB3E4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7200"/>
            <a:ext cx="1276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CC9F0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4CC9F0"/>
                </a:solidFill>
                <a:latin typeface="PingFang SC"/>
                <a:ea typeface="PingFang SC"/>
                <a:cs typeface="PingFang SC"/>
              </a:rPr>
              <a:t>WHAT CHANGES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8F4BE4-3108-45F9-9AB0-34F1C608A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8191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EFF6FF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EFF6FF"/>
                </a:solidFill>
                <a:latin typeface="PingFang SC"/>
                <a:ea typeface="PingFang SC"/>
                <a:cs typeface="PingFang SC"/>
              </a:rPr>
              <a:t>AXTP 把耦合拆成可实现、可评审、可验收的边界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F22C5D-51C4-4997-9B01-87950B070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748E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F748E"/>
                </a:solidFill>
                <a:latin typeface="PingFang SC"/>
                <a:ea typeface="PingFang SC"/>
                <a:cs typeface="PingFang SC"/>
              </a:rPr>
              <a:t>AXTP Kickoff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618430-E9D9-4859-8F05-280326CD7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286500"/>
            <a:ext cx="38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748E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5F748E"/>
                </a:solidFill>
                <a:latin typeface="Menlo"/>
                <a:ea typeface="Menlo"/>
                <a:cs typeface="Menlo"/>
              </a:rPr>
              <a:t>04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582307-F8E8-4E2E-A628-3C5C55269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15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3B5C"/>
          </a:solidFill>
          <a:ln xmlns:a="http://schemas.openxmlformats.org/drawingml/2006/main" w="0">
            <a:solidFill>
              <a:srgbClr val="253B5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8395DC-2593-4BF1-9D6E-B64B57531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562100"/>
            <a:ext cx="4629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A2E"/>
          </a:solidFill>
          <a:ln xmlns:a="http://schemas.openxmlformats.org/drawingml/2006/main" w="9525">
            <a:solidFill>
              <a:srgbClr val="253B5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E7F9CB-1A6C-4B7E-A91D-18C953397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6954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3A4B8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93A4B8"/>
                </a:solidFill>
                <a:latin typeface="PingFang SC"/>
                <a:ea typeface="PingFang SC"/>
                <a:cs typeface="PingFang SC"/>
              </a:rPr>
              <a:t>链路怎么传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6AC6F0-9BC2-4324-853D-99B8B3777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905000"/>
            <a:ext cx="3905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4CC9F0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4CC9F0"/>
                </a:solidFill>
                <a:latin typeface="PingFang SC"/>
                <a:ea typeface="PingFang SC"/>
                <a:cs typeface="PingFang SC"/>
              </a:rPr>
              <a:t>Transport / Frame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ED596F-5844-4E88-9C3B-CB014FF92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1714500"/>
            <a:ext cx="95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C9F0"/>
          </a:solidFill>
          <a:ln xmlns:a="http://schemas.openxmlformats.org/drawingml/2006/main" w="0">
            <a:solidFill>
              <a:srgbClr val="4CC9F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9DCDA0-3B57-4923-93A4-7AE40128D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562100"/>
            <a:ext cx="4629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A2E"/>
          </a:solidFill>
          <a:ln xmlns:a="http://schemas.openxmlformats.org/drawingml/2006/main" w="9525">
            <a:solidFill>
              <a:srgbClr val="253B5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3BDE9A-2AD7-4C31-942D-8AF9224D0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6954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3A4B8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93A4B8"/>
                </a:solidFill>
                <a:latin typeface="PingFang SC"/>
                <a:ea typeface="PingFang SC"/>
                <a:cs typeface="PingFang SC"/>
              </a:rPr>
              <a:t>运行时怎么管理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6E3676-C320-4C78-BB54-4AC674F82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905000"/>
            <a:ext cx="3905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2E6AC"/>
                </a:solidFill>
                <a:latin typeface="Menlo"/>
                <a:ea typeface="Menlo"/>
                <a:cs typeface="Menlo"/>
              </a:defRPr>
            </a:pPr>
            <a:r>
              <a:rPr sz="1500" b="1">
                <a:solidFill>
                  <a:srgbClr val="62E6AC"/>
                </a:solidFill>
                <a:latin typeface="Menlo"/>
                <a:ea typeface="Menlo"/>
                <a:cs typeface="Menlo"/>
              </a:rPr>
              <a:t>CONTROL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A338B7-501C-4553-99EA-E58B6687A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1714500"/>
            <a:ext cx="95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E6AC"/>
          </a:solidFill>
          <a:ln xmlns:a="http://schemas.openxmlformats.org/drawingml/2006/main" w="0">
            <a:solidFill>
              <a:srgbClr val="62E6A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FE1FBB-56EB-4D48-A2F9-5AB9DC38E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4629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A2E"/>
          </a:solidFill>
          <a:ln xmlns:a="http://schemas.openxmlformats.org/drawingml/2006/main" w="9525">
            <a:solidFill>
              <a:srgbClr val="253B5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A0F274A-1AB4-40E5-9659-20F222A1E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098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3A4B8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93A4B8"/>
                </a:solidFill>
                <a:latin typeface="PingFang SC"/>
                <a:ea typeface="PingFang SC"/>
                <a:cs typeface="PingFang SC"/>
              </a:rPr>
              <a:t>业务怎么调用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C1D473F-6454-4992-A427-D366DE2A3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819400"/>
            <a:ext cx="3905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B86B"/>
                </a:solidFill>
                <a:latin typeface="Menlo"/>
                <a:ea typeface="Menlo"/>
                <a:cs typeface="Menlo"/>
              </a:defRPr>
            </a:pPr>
            <a:r>
              <a:rPr sz="1500" b="1">
                <a:solidFill>
                  <a:srgbClr val="FFB86B"/>
                </a:solidFill>
                <a:latin typeface="Menlo"/>
                <a:ea typeface="Menlo"/>
                <a:cs typeface="Menlo"/>
              </a:rPr>
              <a:t>RPC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28E38DA-F5ED-45AC-A2EE-862AD8C1B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628900"/>
            <a:ext cx="95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6B"/>
          </a:solidFill>
          <a:ln xmlns:a="http://schemas.openxmlformats.org/drawingml/2006/main" w="0">
            <a:solidFill>
              <a:srgbClr val="FFB86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391B31A-3BA0-4C4B-8544-A6EA5F22B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476500"/>
            <a:ext cx="4629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A2E"/>
          </a:solidFill>
          <a:ln xmlns:a="http://schemas.openxmlformats.org/drawingml/2006/main" w="9525">
            <a:solidFill>
              <a:srgbClr val="253B5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058D50C-6396-41A8-949A-FE986489D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6098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3A4B8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93A4B8"/>
                </a:solidFill>
                <a:latin typeface="PingFang SC"/>
                <a:ea typeface="PingFang SC"/>
                <a:cs typeface="PingFang SC"/>
              </a:rPr>
              <a:t>大数据怎么走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6FF93EE-0CB9-4815-9589-6CFAC4EDF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819400"/>
            <a:ext cx="3905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6B8A"/>
                </a:solidFill>
                <a:latin typeface="Menlo"/>
                <a:ea typeface="Menlo"/>
                <a:cs typeface="Menlo"/>
              </a:defRPr>
            </a:pPr>
            <a:r>
              <a:rPr sz="1500" b="1">
                <a:solidFill>
                  <a:srgbClr val="FF6B8A"/>
                </a:solidFill>
                <a:latin typeface="Menlo"/>
                <a:ea typeface="Menlo"/>
                <a:cs typeface="Menlo"/>
              </a:rPr>
              <a:t>STREAM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4A68675-3A67-469C-A046-2711502B8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2628900"/>
            <a:ext cx="95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8A"/>
          </a:solidFill>
          <a:ln xmlns:a="http://schemas.openxmlformats.org/drawingml/2006/main" w="0">
            <a:solidFill>
              <a:srgbClr val="FF6B8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22A1D90-A1CA-447A-A752-8E0C836A2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90900"/>
            <a:ext cx="4629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A2E"/>
          </a:solidFill>
          <a:ln xmlns:a="http://schemas.openxmlformats.org/drawingml/2006/main" w="9525">
            <a:solidFill>
              <a:srgbClr val="253B5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5FE066F-4365-4060-A655-49074DE85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5242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3A4B8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93A4B8"/>
                </a:solidFill>
                <a:latin typeface="PingFang SC"/>
                <a:ea typeface="PingFang SC"/>
                <a:cs typeface="PingFang SC"/>
              </a:rPr>
              <a:t>能力怎么定义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F9D72E7-CA14-45C4-B816-10BC7E824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33800"/>
            <a:ext cx="3905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A78BFA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A78BFA"/>
                </a:solidFill>
                <a:latin typeface="PingFang SC"/>
                <a:ea typeface="PingFang SC"/>
                <a:cs typeface="PingFang SC"/>
              </a:rPr>
              <a:t>domain.feature + registry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BE28B6D-9710-4BE5-8E30-CFF568058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543300"/>
            <a:ext cx="95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8BFA"/>
          </a:solidFill>
          <a:ln xmlns:a="http://schemas.openxmlformats.org/drawingml/2006/main" w="0">
            <a:solidFill>
              <a:srgbClr val="A78BF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A0DB913-AB83-404B-B3FF-F0CC429E1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390900"/>
            <a:ext cx="4629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A2E"/>
          </a:solidFill>
          <a:ln xmlns:a="http://schemas.openxmlformats.org/drawingml/2006/main" w="9525">
            <a:solidFill>
              <a:srgbClr val="253B5C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C579DD4-5EAA-480A-A63F-29F9DDEAF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5242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3A4B8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93A4B8"/>
                </a:solidFill>
                <a:latin typeface="PingFang SC"/>
                <a:ea typeface="PingFang SC"/>
                <a:cs typeface="PingFang SC"/>
              </a:rPr>
              <a:t>SDK 怎么交付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C6EB7EF-9DF9-4F5C-B768-9D8EF9AB1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733800"/>
            <a:ext cx="3905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4CC9F0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4CC9F0"/>
                </a:solidFill>
                <a:latin typeface="PingFang SC"/>
                <a:ea typeface="PingFang SC"/>
                <a:cs typeface="PingFang SC"/>
              </a:rPr>
              <a:t>generator + spec lock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5E0C724-3B89-4265-87FA-161DD09E3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3543300"/>
            <a:ext cx="95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C9F0"/>
          </a:solidFill>
          <a:ln xmlns:a="http://schemas.openxmlformats.org/drawingml/2006/main" w="0">
            <a:solidFill>
              <a:srgbClr val="4CC9F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9B9ED31-788C-414F-90E1-6074F5A1D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05300"/>
            <a:ext cx="4629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A2E"/>
          </a:solidFill>
          <a:ln xmlns:a="http://schemas.openxmlformats.org/drawingml/2006/main" w="9525">
            <a:solidFill>
              <a:srgbClr val="253B5C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6C89C81-9B2F-4AEA-BB85-ACB1FBC4D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4386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3A4B8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93A4B8"/>
                </a:solidFill>
                <a:latin typeface="PingFang SC"/>
                <a:ea typeface="PingFang SC"/>
                <a:cs typeface="PingFang SC"/>
              </a:rPr>
              <a:t>测试怎么验收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49AAF52-95BE-4AF7-BC22-0863C9C80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48200"/>
            <a:ext cx="3905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2E6AC"/>
                </a:solidFill>
                <a:latin typeface="Menlo"/>
                <a:ea typeface="Menlo"/>
                <a:cs typeface="Menlo"/>
              </a:defRPr>
            </a:pPr>
            <a:r>
              <a:rPr sz="1500" b="1">
                <a:solidFill>
                  <a:srgbClr val="62E6AC"/>
                </a:solidFill>
                <a:latin typeface="Menlo"/>
                <a:ea typeface="Menlo"/>
                <a:cs typeface="Menlo"/>
              </a:rPr>
              <a:t>conformance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AA975E2-91DE-43AB-89F7-7A646C1E6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457700"/>
            <a:ext cx="95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E6AC"/>
          </a:solidFill>
          <a:ln xmlns:a="http://schemas.openxmlformats.org/drawingml/2006/main" w="0">
            <a:solidFill>
              <a:srgbClr val="62E6AC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F4DCC95-3B4A-4AFA-B4AD-5A9FCC76E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334000"/>
            <a:ext cx="9810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EFF6F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EFF6FF"/>
                </a:solidFill>
                <a:latin typeface="PingFang SC"/>
                <a:ea typeface="PingFang SC"/>
                <a:cs typeface="PingFang SC"/>
              </a:rPr>
              <a:t>从“各端根据经验同步”变成“需求进入流程，事实由 registry 锁定，runtime 和测试消费同一份合同”。</a:t>
            </a:r>
          </a:p>
        </p:txBody>
      </p:sp>
    </p:spTree>
    <p:extLst>
      <p:ext uri="{BB962C8B-B14F-4D97-AF65-F5344CB8AC3E}">
        <p14:creationId xmlns:p14="http://schemas.microsoft.com/office/powerpoint/2010/main" val="157638952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8887A0E-53DC-42F2-8521-31B3EE8CF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6FE9D4-E240-406E-8060-8A85A3537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253B5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13D2BD-E161-4E6C-8C2D-D0913DB7D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57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C9F0"/>
          </a:solidFill>
          <a:ln xmlns:a="http://schemas.openxmlformats.org/drawingml/2006/main" w="0">
            <a:solidFill>
              <a:srgbClr val="4CC9F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D1930D-0251-4477-ACE9-6F1EFC30F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" y="0"/>
            <a:ext cx="4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E6AC"/>
          </a:solidFill>
          <a:ln xmlns:a="http://schemas.openxmlformats.org/drawingml/2006/main" w="0">
            <a:solidFill>
              <a:srgbClr val="62E6A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234D6C-807C-4F1A-8743-8BEEBF7E1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466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1430">
            <a:solidFill>
              <a:srgbClr val="4CC9F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EDF912-C744-43BC-B7AF-E271A67A9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7200"/>
            <a:ext cx="1276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CC9F0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4CC9F0"/>
                </a:solidFill>
                <a:latin typeface="PingFang SC"/>
                <a:ea typeface="PingFang SC"/>
                <a:cs typeface="PingFang SC"/>
              </a:rPr>
              <a:t>WIRE FORMAT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E7CABE-E6FF-4A4D-B88A-12BC4620B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8191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EFF6FF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EFF6FF"/>
                </a:solidFill>
                <a:latin typeface="PingFang SC"/>
                <a:ea typeface="PingFang SC"/>
                <a:cs typeface="PingFang SC"/>
              </a:rPr>
              <a:t>协议线格式比抽象分层更能说明 AXTP 框架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FED2A3-266D-4A71-96CE-B7D68AA2D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748E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F748E"/>
                </a:solidFill>
                <a:latin typeface="PingFang SC"/>
                <a:ea typeface="PingFang SC"/>
                <a:cs typeface="PingFang SC"/>
              </a:rPr>
              <a:t>AXTP Kickoff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ED254E-9982-4BDD-BA98-B3F98BEBE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286500"/>
            <a:ext cx="38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748E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5F748E"/>
                </a:solidFill>
                <a:latin typeface="Menlo"/>
                <a:ea typeface="Menlo"/>
                <a:cs typeface="Menlo"/>
              </a:rPr>
              <a:t>05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01A41E-3BC4-458B-8C20-1D2A24BCA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15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3B5C"/>
          </a:solidFill>
          <a:ln xmlns:a="http://schemas.openxmlformats.org/drawingml/2006/main" w="0">
            <a:solidFill>
              <a:srgbClr val="253B5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3C7DA1-FB83-4B0B-824D-FBF39A087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3619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4CC9F0"/>
                </a:solidFill>
                <a:latin typeface="Menlo"/>
                <a:ea typeface="Menlo"/>
                <a:cs typeface="Menlo"/>
              </a:defRPr>
            </a:pPr>
            <a:r>
              <a:rPr sz="1500" b="1">
                <a:solidFill>
                  <a:srgbClr val="4CC9F0"/>
                </a:solidFill>
                <a:latin typeface="Menlo"/>
                <a:ea typeface="Menlo"/>
                <a:cs typeface="Menlo"/>
              </a:rPr>
              <a:t>Standard Framed wire format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A6ED4A-8DC5-4274-820D-253B09CBC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52650"/>
            <a:ext cx="857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A"/>
          </a:solidFill>
          <a:ln xmlns:a="http://schemas.openxmlformats.org/drawingml/2006/main" w="11430">
            <a:solidFill>
              <a:srgbClr val="4CC9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678161-F9DD-43DC-9CF0-78D41255F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05050"/>
            <a:ext cx="781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CC9F0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4CC9F0"/>
                </a:solidFill>
                <a:latin typeface="Menlo"/>
                <a:ea typeface="Menlo"/>
                <a:cs typeface="Menlo"/>
              </a:rPr>
              <a:t>Magic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F241CA-D074-46E3-B864-24F0D0945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71750"/>
            <a:ext cx="781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93A4B8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93A4B8"/>
                </a:solidFill>
                <a:latin typeface="Menlo"/>
                <a:ea typeface="Menlo"/>
                <a:cs typeface="Menlo"/>
              </a:rPr>
              <a:t>AX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899CE4-7219-4FA7-BA3A-0A8D09DF7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152650"/>
            <a:ext cx="571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A"/>
          </a:solidFill>
          <a:ln xmlns:a="http://schemas.openxmlformats.org/drawingml/2006/main" w="11430">
            <a:solidFill>
              <a:srgbClr val="62E6A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273B2B-1563-49C0-B919-8616D2E8C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305050"/>
            <a:ext cx="495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2E6AC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62E6AC"/>
                </a:solidFill>
                <a:latin typeface="Menlo"/>
                <a:ea typeface="Menlo"/>
                <a:cs typeface="Menlo"/>
              </a:rPr>
              <a:t>Ver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88BDDF-3CD0-4448-A548-F656AF9F4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571750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93A4B8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93A4B8"/>
                </a:solidFill>
                <a:latin typeface="Menlo"/>
                <a:ea typeface="Menlo"/>
                <a:cs typeface="Menlo"/>
              </a:rPr>
              <a:t>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BE8561-11AE-439A-A09B-D9C14E6FD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152650"/>
            <a:ext cx="666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A"/>
          </a:solidFill>
          <a:ln xmlns:a="http://schemas.openxmlformats.org/drawingml/2006/main" w="11430">
            <a:solidFill>
              <a:srgbClr val="FFB86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212CA1-1074-4BDE-A82C-73F386837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305050"/>
            <a:ext cx="590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B86B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FFB86B"/>
                </a:solidFill>
                <a:latin typeface="Menlo"/>
                <a:ea typeface="Menlo"/>
                <a:cs typeface="Menlo"/>
              </a:rPr>
              <a:t>Type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40A9B81-AD5D-4C18-A7D6-6B5E9B8D6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571750"/>
            <a:ext cx="590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93A4B8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93A4B8"/>
                </a:solidFill>
                <a:latin typeface="Menlo"/>
                <a:ea typeface="Menlo"/>
                <a:cs typeface="Menlo"/>
              </a:rPr>
              <a:t>LE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1B267C5-AF81-43BF-86AC-69D9A2375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152650"/>
            <a:ext cx="12573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A"/>
          </a:solidFill>
          <a:ln xmlns:a="http://schemas.openxmlformats.org/drawingml/2006/main" w="11430">
            <a:solidFill>
              <a:srgbClr val="EFF6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3B2A340-EFAA-49DC-834C-AB6C90D25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305050"/>
            <a:ext cx="1181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EFF6FF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EFF6FF"/>
                </a:solidFill>
                <a:latin typeface="Menlo"/>
                <a:ea typeface="Menlo"/>
                <a:cs typeface="Menlo"/>
              </a:rPr>
              <a:t>PayloadLen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C02E943-147D-4BAB-9492-2A4889053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571750"/>
            <a:ext cx="1181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93A4B8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93A4B8"/>
                </a:solidFill>
                <a:latin typeface="Menlo"/>
                <a:ea typeface="Menlo"/>
                <a:cs typeface="Menlo"/>
              </a:rPr>
              <a:t>LE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9E04F18-D8AC-4641-937C-A168BE7E4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152650"/>
            <a:ext cx="571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A"/>
          </a:solidFill>
          <a:ln xmlns:a="http://schemas.openxmlformats.org/drawingml/2006/main" w="11430">
            <a:solidFill>
              <a:srgbClr val="EFF6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D556156-31DB-43BA-B877-E74A13062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305050"/>
            <a:ext cx="495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EFF6FF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EFF6FF"/>
                </a:solidFill>
                <a:latin typeface="Menlo"/>
                <a:ea typeface="Menlo"/>
                <a:cs typeface="Menlo"/>
              </a:rPr>
              <a:t>Src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DC7F22E-8B25-4551-B982-A5EFB8616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571750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93A4B8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93A4B8"/>
                </a:solidFill>
                <a:latin typeface="Menlo"/>
                <a:ea typeface="Menlo"/>
                <a:cs typeface="Menlo"/>
              </a:rPr>
              <a:t>LE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9344742-BCEB-4E1E-9B92-C4BCCECC5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152650"/>
            <a:ext cx="571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A"/>
          </a:solidFill>
          <a:ln xmlns:a="http://schemas.openxmlformats.org/drawingml/2006/main" w="11430">
            <a:solidFill>
              <a:srgbClr val="EFF6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510DB3C-5F8E-42EF-BC25-A157A5AB7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305050"/>
            <a:ext cx="495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EFF6FF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EFF6FF"/>
                </a:solidFill>
                <a:latin typeface="Menlo"/>
                <a:ea typeface="Menlo"/>
                <a:cs typeface="Menlo"/>
              </a:rPr>
              <a:t>Dst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36FD095-3B3D-4F42-8B4B-8F3D0EA64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571750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93A4B8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93A4B8"/>
                </a:solidFill>
                <a:latin typeface="Menlo"/>
                <a:ea typeface="Menlo"/>
                <a:cs typeface="Menlo"/>
              </a:rPr>
              <a:t>LE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EAC490D-A822-4C56-BFAE-3086AF412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152650"/>
            <a:ext cx="12192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A"/>
          </a:solidFill>
          <a:ln xmlns:a="http://schemas.openxmlformats.org/drawingml/2006/main" w="11430">
            <a:solidFill>
              <a:srgbClr val="EFF6F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DD689EF-AF09-4744-B73A-D366E0C8F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305050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EFF6FF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EFF6FF"/>
                </a:solidFill>
                <a:latin typeface="Menlo"/>
                <a:ea typeface="Menlo"/>
                <a:cs typeface="Menlo"/>
              </a:rPr>
              <a:t>MessageId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03F326A-4A47-4CCD-96AC-B07DEDFF3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57175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93A4B8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93A4B8"/>
                </a:solidFill>
                <a:latin typeface="Menlo"/>
                <a:ea typeface="Menlo"/>
                <a:cs typeface="Menlo"/>
              </a:rPr>
              <a:t>LE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A17DA69-A6A8-4E2C-AA16-2594726B5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152650"/>
            <a:ext cx="7810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A"/>
          </a:solidFill>
          <a:ln xmlns:a="http://schemas.openxmlformats.org/drawingml/2006/main" w="11430">
            <a:solidFill>
              <a:srgbClr val="EFF6F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6F0102C-9C20-4FD7-808E-F256911FE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05050"/>
            <a:ext cx="704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EFF6FF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EFF6FF"/>
                </a:solidFill>
                <a:latin typeface="Menlo"/>
                <a:ea typeface="Menlo"/>
                <a:cs typeface="Menlo"/>
              </a:rPr>
              <a:t>Frag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13764BC-A020-424E-8F38-F25A8D4A2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71750"/>
            <a:ext cx="704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93A4B8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93A4B8"/>
                </a:solidFill>
                <a:latin typeface="Menlo"/>
                <a:ea typeface="Menlo"/>
                <a:cs typeface="Menlo"/>
              </a:rPr>
              <a:t>LE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B4AED74-A400-4683-9079-245B3354F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152650"/>
            <a:ext cx="1809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A"/>
          </a:solidFill>
          <a:ln xmlns:a="http://schemas.openxmlformats.org/drawingml/2006/main" w="11430">
            <a:solidFill>
              <a:srgbClr val="FF6B8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C06283E-F99C-4978-AC47-C43F4DC75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305050"/>
            <a:ext cx="1733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6B8A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FF6B8A"/>
                </a:solidFill>
                <a:latin typeface="Menlo"/>
                <a:ea typeface="Menlo"/>
                <a:cs typeface="Menlo"/>
              </a:rPr>
              <a:t>Payload 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EDDA25F-4DBD-4328-A6C1-2F1FC971E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571750"/>
            <a:ext cx="1733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93A4B8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93A4B8"/>
                </a:solidFill>
                <a:latin typeface="Menlo"/>
                <a:ea typeface="Menlo"/>
                <a:cs typeface="Menlo"/>
              </a:rPr>
              <a:t>N bytes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12ABDBC-A6AE-4020-BD50-594E6A063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152650"/>
            <a:ext cx="6858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A"/>
          </a:solidFill>
          <a:ln xmlns:a="http://schemas.openxmlformats.org/drawingml/2006/main" w="11430">
            <a:solidFill>
              <a:srgbClr val="A78BFA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B77A012-58A8-441A-B791-F99E6C817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305050"/>
            <a:ext cx="609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A78BFA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A78BFA"/>
                </a:solidFill>
                <a:latin typeface="Menlo"/>
                <a:ea typeface="Menlo"/>
                <a:cs typeface="Menlo"/>
              </a:rPr>
              <a:t>CRC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9E433CE-2D35-4CFD-A01B-0CFBB25BD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571750"/>
            <a:ext cx="609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93A4B8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93A4B8"/>
                </a:solidFill>
                <a:latin typeface="Menlo"/>
                <a:ea typeface="Menlo"/>
                <a:cs typeface="Menlo"/>
              </a:rPr>
              <a:t>16b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A5E0161-2C1B-414E-B849-0C3A09F95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1885950"/>
            <a:ext cx="466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93A4B8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93A4B8"/>
                </a:solidFill>
                <a:latin typeface="Menlo"/>
                <a:ea typeface="Menlo"/>
                <a:cs typeface="Menlo"/>
              </a:rPr>
              <a:t>Frame Header 12B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D9CBC22-60FD-4DFA-8582-CB3A1CDE8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76450"/>
            <a:ext cx="6496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276"/>
          </a:solidFill>
          <a:ln xmlns:a="http://schemas.openxmlformats.org/drawingml/2006/main" w="0">
            <a:solidFill>
              <a:srgbClr val="355276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8327A6B-5E83-4666-9232-A826B172E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00250"/>
            <a:ext cx="190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276"/>
          </a:solidFill>
          <a:ln xmlns:a="http://schemas.openxmlformats.org/drawingml/2006/main" w="0">
            <a:solidFill>
              <a:srgbClr val="355276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56B484E-1C39-4534-9E77-08DCD6473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000250"/>
            <a:ext cx="190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276"/>
          </a:solidFill>
          <a:ln xmlns:a="http://schemas.openxmlformats.org/drawingml/2006/main" w="0">
            <a:solidFill>
              <a:srgbClr val="355276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2553E88-1025-4087-A3BC-FD96AD675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876550"/>
            <a:ext cx="190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E6AC"/>
          </a:solidFill>
          <a:ln xmlns:a="http://schemas.openxmlformats.org/drawingml/2006/main" w="0">
            <a:solidFill>
              <a:srgbClr val="62E6AC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C4ADF14-528F-4F17-9D27-C73609517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695700"/>
            <a:ext cx="781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E6AC"/>
          </a:solidFill>
          <a:ln xmlns:a="http://schemas.openxmlformats.org/drawingml/2006/main" w="0">
            <a:solidFill>
              <a:srgbClr val="62E6AC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45EEC36-A7C5-4CF2-AEF1-D1F4D7312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429000"/>
            <a:ext cx="31051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A2E"/>
          </a:solidFill>
          <a:ln xmlns:a="http://schemas.openxmlformats.org/drawingml/2006/main" w="9525">
            <a:solidFill>
              <a:srgbClr val="62E6AC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5D9A58A-2AB3-4349-BA18-21B82FC4A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514725"/>
            <a:ext cx="1257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2E6AC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62E6AC"/>
                </a:solidFill>
                <a:latin typeface="Menlo"/>
                <a:ea typeface="Menlo"/>
                <a:cs typeface="Menlo"/>
              </a:rPr>
              <a:t>Type=CONTROL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60DD676-3388-4A9A-9411-55CF778AD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695700"/>
            <a:ext cx="2724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EFF6FF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EFF6FF"/>
                </a:solidFill>
                <a:latin typeface="Menlo"/>
                <a:ea typeface="Menlo"/>
                <a:cs typeface="Menlo"/>
              </a:rPr>
              <a:t>opcode + controlId + statusCode + TLV body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D182CB7-7E0E-4D16-81AE-CAFFA0ED1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876550"/>
            <a:ext cx="190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6B"/>
          </a:solidFill>
          <a:ln xmlns:a="http://schemas.openxmlformats.org/drawingml/2006/main" w="0">
            <a:solidFill>
              <a:srgbClr val="FFB86B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3F3516B-AEE4-4FD2-BAAA-49FE6B6BD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343400"/>
            <a:ext cx="781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6B"/>
          </a:solidFill>
          <a:ln xmlns:a="http://schemas.openxmlformats.org/drawingml/2006/main" w="0">
            <a:solidFill>
              <a:srgbClr val="FFB86B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4473E5C-5484-4786-94DD-FF11962C9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076700"/>
            <a:ext cx="31051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A2E"/>
          </a:solidFill>
          <a:ln xmlns:a="http://schemas.openxmlformats.org/drawingml/2006/main" w="9525">
            <a:solidFill>
              <a:srgbClr val="FFB86B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1942041-1D14-4B58-BEB6-C2E51CB26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162425"/>
            <a:ext cx="1257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B86B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FFB86B"/>
                </a:solidFill>
                <a:latin typeface="Menlo"/>
                <a:ea typeface="Menlo"/>
                <a:cs typeface="Menlo"/>
              </a:rPr>
              <a:t>Type=RPC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F636B91-DC5F-4A2C-B07D-6E18107C2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343400"/>
            <a:ext cx="2724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EFF6FF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EFF6FF"/>
                </a:solidFill>
                <a:latin typeface="PingFang SC"/>
                <a:ea typeface="PingFang SC"/>
                <a:cs typeface="PingFang SC"/>
              </a:rPr>
              <a:t>JSON { sid, op, d } 或 Binary RPC Header(15B) + body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D64DD03-7BCE-4D35-B3DB-0B5985346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876550"/>
            <a:ext cx="19050" cy="211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8A"/>
          </a:solidFill>
          <a:ln xmlns:a="http://schemas.openxmlformats.org/drawingml/2006/main" w="0">
            <a:solidFill>
              <a:srgbClr val="FF6B8A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90C576B-6DF8-4BD3-9279-79E078A40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991100"/>
            <a:ext cx="781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8A"/>
          </a:solidFill>
          <a:ln xmlns:a="http://schemas.openxmlformats.org/drawingml/2006/main" w="0">
            <a:solidFill>
              <a:srgbClr val="FF6B8A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92A905B-5AFF-469B-A5D1-FE90E551C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724400"/>
            <a:ext cx="31051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A2E"/>
          </a:solidFill>
          <a:ln xmlns:a="http://schemas.openxmlformats.org/drawingml/2006/main" w="9525">
            <a:solidFill>
              <a:srgbClr val="FF6B8A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B6A4182-9642-455D-90EF-205CDF4BB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810125"/>
            <a:ext cx="1257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6B8A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FF6B8A"/>
                </a:solidFill>
                <a:latin typeface="Menlo"/>
                <a:ea typeface="Menlo"/>
                <a:cs typeface="Menlo"/>
              </a:rPr>
              <a:t>Type=STREAM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4A4DAD3-5F16-43E1-95BC-A6B1CA68F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991100"/>
            <a:ext cx="2724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EFF6FF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EFF6FF"/>
                </a:solidFill>
                <a:latin typeface="Menlo"/>
                <a:ea typeface="Menlo"/>
                <a:cs typeface="Menlo"/>
              </a:rPr>
              <a:t>streamId + seqId + cursor + data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FF8D0FC-117C-4130-88C9-AB8C1BBA4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48200"/>
            <a:ext cx="57531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A2E"/>
          </a:solidFill>
          <a:ln xmlns:a="http://schemas.openxmlformats.org/drawingml/2006/main" w="9525">
            <a:solidFill>
              <a:srgbClr val="253B5C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D374AF7-6666-45F4-86D3-D6CEEE8CF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1965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4CC9F0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4CC9F0"/>
                </a:solidFill>
                <a:latin typeface="PingFang SC"/>
                <a:ea typeface="PingFang SC"/>
                <a:cs typeface="PingFang SC"/>
              </a:rPr>
              <a:t>Header 不写业务语义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640ED3AE-9DA4-464A-B5A4-FB64683BB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5181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EFF6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EFF6FF"/>
                </a:solidFill>
                <a:latin typeface="PingFang SC"/>
                <a:ea typeface="PingFang SC"/>
                <a:cs typeface="PingFang SC"/>
              </a:rPr>
              <a:t>它只负责把字节流切成可校验、可分片、可分发的 AXTP Frame。具体业务由 Payload parser 和 registry 接着解释。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2E871234-942F-4D58-92E8-D163E609F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734050"/>
            <a:ext cx="704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3A4B8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93A4B8"/>
                </a:solidFill>
                <a:latin typeface="Menlo"/>
                <a:ea typeface="Menlo"/>
                <a:cs typeface="Menlo"/>
              </a:rPr>
              <a:t>WebSocket JSON: JSON { "sid": "...", "op": N, "d": { ... } }</a:t>
            </a:r>
          </a:p>
        </p:txBody>
      </p:sp>
    </p:spTree>
    <p:extLst>
      <p:ext uri="{BB962C8B-B14F-4D97-AF65-F5344CB8AC3E}">
        <p14:creationId xmlns:p14="http://schemas.microsoft.com/office/powerpoint/2010/main" val="127645312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F4B6CC7-63D6-422A-8A36-8B127EACE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4548EA-29C2-410C-A1D4-C679B556E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253B5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88EF2C-BFAD-4954-A6D5-05038E9CB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57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C9F0"/>
          </a:solidFill>
          <a:ln xmlns:a="http://schemas.openxmlformats.org/drawingml/2006/main" w="0">
            <a:solidFill>
              <a:srgbClr val="4CC9F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23F751-0009-43DF-B94A-C551891A7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" y="0"/>
            <a:ext cx="4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E6AC"/>
          </a:solidFill>
          <a:ln xmlns:a="http://schemas.openxmlformats.org/drawingml/2006/main" w="0">
            <a:solidFill>
              <a:srgbClr val="62E6A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3A9BB5-C73D-4868-96FD-A4609F1CC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466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1430">
            <a:solidFill>
              <a:srgbClr val="4CC9F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BFD039-31EB-4CAB-B349-333AEC72A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7200"/>
            <a:ext cx="1276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CC9F0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4CC9F0"/>
                </a:solidFill>
                <a:latin typeface="PingFang SC"/>
                <a:ea typeface="PingFang SC"/>
                <a:cs typeface="PingFang SC"/>
              </a:rPr>
              <a:t>SOURCE OF TRUTH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C16878-FE9C-4677-A44E-E036ECC06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8191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EFF6FF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EFF6FF"/>
                </a:solidFill>
                <a:latin typeface="PingFang SC"/>
                <a:ea typeface="PingFang SC"/>
                <a:cs typeface="PingFang SC"/>
              </a:rPr>
              <a:t>协议工作从材料流转变成生命周期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BB9A0B-4CAC-4CE4-AF8D-16BDD203A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748E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F748E"/>
                </a:solidFill>
                <a:latin typeface="PingFang SC"/>
                <a:ea typeface="PingFang SC"/>
                <a:cs typeface="PingFang SC"/>
              </a:rPr>
              <a:t>AXTP Kickoff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396F27-7D01-416D-8F20-B59821AEF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286500"/>
            <a:ext cx="38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748E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5F748E"/>
                </a:solidFill>
                <a:latin typeface="Menlo"/>
                <a:ea typeface="Menlo"/>
                <a:cs typeface="Menlo"/>
              </a:rPr>
              <a:t>06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DA7A0C-B976-4135-A0A3-1BAF5A21D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15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3B5C"/>
          </a:solidFill>
          <a:ln xmlns:a="http://schemas.openxmlformats.org/drawingml/2006/main" w="0">
            <a:solidFill>
              <a:srgbClr val="253B5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1A1429-3E8A-4014-BE94-66007BB0B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28850"/>
            <a:ext cx="1485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A2E"/>
          </a:solidFill>
          <a:ln xmlns:a="http://schemas.openxmlformats.org/drawingml/2006/main" w="10478">
            <a:solidFill>
              <a:srgbClr val="4CC9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F7DC67-C0ED-4098-AA01-2223D7943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00300"/>
            <a:ext cx="1219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4CC9F0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4CC9F0"/>
                </a:solidFill>
                <a:latin typeface="PingFang SC"/>
                <a:ea typeface="PingFang SC"/>
                <a:cs typeface="PingFang SC"/>
              </a:rPr>
              <a:t>业务输入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2EFCC3-E871-43AA-9DC2-007255DB9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05100"/>
            <a:ext cx="1295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EFF6FF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EFF6FF"/>
                </a:solidFill>
                <a:latin typeface="Menlo"/>
                <a:ea typeface="Menlo"/>
                <a:cs typeface="Menlo"/>
              </a:rPr>
              <a:t>docs/business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E8AB24-7AEA-4A60-B489-576878083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676525"/>
            <a:ext cx="304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276"/>
          </a:solidFill>
          <a:ln xmlns:a="http://schemas.openxmlformats.org/drawingml/2006/main" w="0">
            <a:solidFill>
              <a:srgbClr val="35527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753997-40D1-4F8D-B262-08CD53C6C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552700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355276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355276"/>
                </a:solidFill>
                <a:latin typeface="Menlo"/>
                <a:ea typeface="Menlo"/>
                <a:cs typeface="Menlo"/>
              </a:rPr>
              <a:t>&gt;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44B76E-185F-43D7-8B99-4F9C02EC9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228850"/>
            <a:ext cx="1485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A2E"/>
          </a:solidFill>
          <a:ln xmlns:a="http://schemas.openxmlformats.org/drawingml/2006/main" w="10478">
            <a:solidFill>
              <a:srgbClr val="62E6A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8DC836-5D08-4BC6-B550-956F7DFDC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400300"/>
            <a:ext cx="1219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62E6AC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62E6AC"/>
                </a:solidFill>
                <a:latin typeface="PingFang SC"/>
                <a:ea typeface="PingFang SC"/>
                <a:cs typeface="PingFang SC"/>
              </a:rPr>
              <a:t>场景流程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443B19-3156-40AD-A9CD-4CE8CAD59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705100"/>
            <a:ext cx="1295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EFF6FF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EFF6FF"/>
                </a:solidFill>
                <a:latin typeface="Menlo"/>
                <a:ea typeface="Menlo"/>
                <a:cs typeface="Menlo"/>
              </a:rPr>
              <a:t>docs/flows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C35305-F6B7-48FF-9D74-99CED4A87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676525"/>
            <a:ext cx="304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276"/>
          </a:solidFill>
          <a:ln xmlns:a="http://schemas.openxmlformats.org/drawingml/2006/main" w="0">
            <a:solidFill>
              <a:srgbClr val="35527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4103E2-40AB-4703-95F9-C9999B897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552700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355276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355276"/>
                </a:solidFill>
                <a:latin typeface="Menlo"/>
                <a:ea typeface="Menlo"/>
                <a:cs typeface="Menlo"/>
              </a:rPr>
              <a:t>&gt;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0995F3-C556-42F2-98AC-B563B21D2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228850"/>
            <a:ext cx="1485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A2E"/>
          </a:solidFill>
          <a:ln xmlns:a="http://schemas.openxmlformats.org/drawingml/2006/main" w="10478">
            <a:solidFill>
              <a:srgbClr val="FFB86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3FCF3E-1A4B-4FB8-A401-D7CC23A05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400300"/>
            <a:ext cx="1219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B86B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B86B"/>
                </a:solidFill>
                <a:latin typeface="PingFang SC"/>
                <a:ea typeface="PingFang SC"/>
                <a:cs typeface="PingFang SC"/>
              </a:rPr>
              <a:t>协议草案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C451B4E-19AE-4CCD-9454-B1C4A835F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705100"/>
            <a:ext cx="1295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EFF6FF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EFF6FF"/>
                </a:solidFill>
                <a:latin typeface="Menlo"/>
                <a:ea typeface="Menlo"/>
                <a:cs typeface="Menlo"/>
              </a:rPr>
              <a:t>docs/protocol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AAB7F0E-B4A9-48B9-8F98-9CF269AD7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676525"/>
            <a:ext cx="304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276"/>
          </a:solidFill>
          <a:ln xmlns:a="http://schemas.openxmlformats.org/drawingml/2006/main" w="0">
            <a:solidFill>
              <a:srgbClr val="35527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8D4B3D5-F289-40A0-BD00-F5A9A3D88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552700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355276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355276"/>
                </a:solidFill>
                <a:latin typeface="Menlo"/>
                <a:ea typeface="Menlo"/>
                <a:cs typeface="Menlo"/>
              </a:rPr>
              <a:t>&gt;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3504B46-FA1A-4347-AB6A-31691AFC9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228850"/>
            <a:ext cx="1485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A2E"/>
          </a:solidFill>
          <a:ln xmlns:a="http://schemas.openxmlformats.org/drawingml/2006/main" w="10478">
            <a:solidFill>
              <a:srgbClr val="FF6B8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2C43DC8-EB13-402C-B19D-1F00E9059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00300"/>
            <a:ext cx="1219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6B8A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6B8A"/>
                </a:solidFill>
                <a:latin typeface="PingFang SC"/>
                <a:ea typeface="PingFang SC"/>
                <a:cs typeface="PingFang SC"/>
              </a:rPr>
              <a:t>事实锁定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F6E1A96-903E-4ACD-A49F-76A3F2BA0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705100"/>
            <a:ext cx="1295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EFF6FF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EFF6FF"/>
                </a:solidFill>
                <a:latin typeface="Menlo"/>
                <a:ea typeface="Menlo"/>
                <a:cs typeface="Menlo"/>
              </a:rPr>
              <a:t>registry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F0CCD39-C5FB-4718-8685-95A3E8187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676525"/>
            <a:ext cx="304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276"/>
          </a:solidFill>
          <a:ln xmlns:a="http://schemas.openxmlformats.org/drawingml/2006/main" w="0">
            <a:solidFill>
              <a:srgbClr val="35527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C6E52AB-300A-415B-8014-9A0229519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552700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355276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355276"/>
                </a:solidFill>
                <a:latin typeface="Menlo"/>
                <a:ea typeface="Menlo"/>
                <a:cs typeface="Menlo"/>
              </a:rPr>
              <a:t>&gt;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774182C-F11A-4251-82B9-1FEFC9FA8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228850"/>
            <a:ext cx="1485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A2E"/>
          </a:solidFill>
          <a:ln xmlns:a="http://schemas.openxmlformats.org/drawingml/2006/main" w="10478">
            <a:solidFill>
              <a:srgbClr val="A78BF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5C81E5F-1D73-4AC0-9A9E-13BF7BF7D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400300"/>
            <a:ext cx="1219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A78BFA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A78BFA"/>
                </a:solidFill>
                <a:latin typeface="PingFang SC"/>
                <a:ea typeface="PingFang SC"/>
                <a:cs typeface="PingFang SC"/>
              </a:rPr>
              <a:t>生成合同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14ABB31-AD88-4CBE-823C-35D2EC3E1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705100"/>
            <a:ext cx="1295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EFF6FF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EFF6FF"/>
                </a:solidFill>
                <a:latin typeface="Menlo"/>
                <a:ea typeface="Menlo"/>
                <a:cs typeface="Menlo"/>
              </a:rPr>
              <a:t>protocol + generated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AF0FCCA-928F-4BAC-8C46-F6DE53153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676525"/>
            <a:ext cx="304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276"/>
          </a:solidFill>
          <a:ln xmlns:a="http://schemas.openxmlformats.org/drawingml/2006/main" w="0">
            <a:solidFill>
              <a:srgbClr val="355276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599372C-F465-4450-9609-4A5B3D104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552700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355276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355276"/>
                </a:solidFill>
                <a:latin typeface="Menlo"/>
                <a:ea typeface="Menlo"/>
                <a:cs typeface="Menlo"/>
              </a:rPr>
              <a:t>&gt;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887FBBC-54E1-498D-BF40-789251380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228850"/>
            <a:ext cx="1485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A2E"/>
          </a:solidFill>
          <a:ln xmlns:a="http://schemas.openxmlformats.org/drawingml/2006/main" w="10478">
            <a:solidFill>
              <a:srgbClr val="4CC9F0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CF3905F-FF98-425A-A2FA-420ABFE77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400300"/>
            <a:ext cx="1219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4CC9F0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4CC9F0"/>
                </a:solidFill>
                <a:latin typeface="PingFang SC"/>
                <a:ea typeface="PingFang SC"/>
                <a:cs typeface="PingFang SC"/>
              </a:rPr>
              <a:t>验收输入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DFB7562-7082-4407-992F-E10CD739D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705100"/>
            <a:ext cx="1295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EFF6FF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EFF6FF"/>
                </a:solidFill>
                <a:latin typeface="Menlo"/>
                <a:ea typeface="Menlo"/>
                <a:cs typeface="Menlo"/>
              </a:rPr>
              <a:t>docs/conformance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2D900FE-42F0-4F8B-9205-5B01390E3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95750"/>
            <a:ext cx="2095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A"/>
          </a:solidFill>
          <a:ln xmlns:a="http://schemas.openxmlformats.org/drawingml/2006/main" w="9525">
            <a:solidFill>
              <a:srgbClr val="253B5C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26F459C-1EA3-4DB6-AAF8-A7AAD4A46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248150"/>
            <a:ext cx="1790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4CC9F0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4CC9F0"/>
                </a:solidFill>
                <a:latin typeface="PingFang SC"/>
                <a:ea typeface="PingFang SC"/>
                <a:cs typeface="PingFang SC"/>
              </a:rPr>
              <a:t>草案可以讨论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6381BF4-FA71-45E9-9700-483901C3D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514850"/>
            <a:ext cx="1828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93A4B8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93A4B8"/>
                </a:solidFill>
                <a:latin typeface="Menlo"/>
                <a:ea typeface="Menlo"/>
                <a:cs typeface="Menlo"/>
              </a:rPr>
              <a:t>docs/protocol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9B1AD79-90E4-40C0-90A1-F4E413A45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095750"/>
            <a:ext cx="2095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A"/>
          </a:solidFill>
          <a:ln xmlns:a="http://schemas.openxmlformats.org/drawingml/2006/main" w="9525">
            <a:solidFill>
              <a:srgbClr val="253B5C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A7FD8DF-A9F7-462A-9BF0-AB002032C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248150"/>
            <a:ext cx="1790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2E6AC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62E6AC"/>
                </a:solidFill>
                <a:latin typeface="PingFang SC"/>
                <a:ea typeface="PingFang SC"/>
                <a:cs typeface="PingFang SC"/>
              </a:rPr>
              <a:t>registry 才是事实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FD22AAF-4FE1-44A3-AD6B-FC6ED4644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514850"/>
            <a:ext cx="1828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93A4B8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93A4B8"/>
                </a:solidFill>
                <a:latin typeface="Menlo"/>
                <a:ea typeface="Menlo"/>
                <a:cs typeface="Menlo"/>
              </a:rPr>
              <a:t>registry/domains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3B549B0-3BB2-4984-AE0C-04FE61927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095750"/>
            <a:ext cx="2095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A"/>
          </a:solidFill>
          <a:ln xmlns:a="http://schemas.openxmlformats.org/drawingml/2006/main" w="9525">
            <a:solidFill>
              <a:srgbClr val="253B5C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492709C-99CB-4279-9A84-6DC76C8B0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248150"/>
            <a:ext cx="1790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B86B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B86B"/>
                </a:solidFill>
                <a:latin typeface="PingFang SC"/>
                <a:ea typeface="PingFang SC"/>
                <a:cs typeface="PingFang SC"/>
              </a:rPr>
              <a:t>generated 只能生成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E387E22-16B7-4B02-B766-BF544368C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514850"/>
            <a:ext cx="1828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93A4B8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93A4B8"/>
                </a:solidFill>
                <a:latin typeface="Menlo"/>
                <a:ea typeface="Menlo"/>
                <a:cs typeface="Menlo"/>
              </a:rPr>
              <a:t>docs/generated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761028A-321E-46A2-87C7-6CDCFD7D4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095750"/>
            <a:ext cx="2095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A"/>
          </a:solidFill>
          <a:ln xmlns:a="http://schemas.openxmlformats.org/drawingml/2006/main" w="9525">
            <a:solidFill>
              <a:srgbClr val="253B5C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F0FD7E9-E53B-4F96-869E-624FF9531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248150"/>
            <a:ext cx="1790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6B8A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6B8A"/>
                </a:solidFill>
                <a:latin typeface="PingFang SC"/>
                <a:ea typeface="PingFang SC"/>
                <a:cs typeface="PingFang SC"/>
              </a:rPr>
              <a:t>conformance 用来验收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739ECE1-5CC2-4BA0-9B6F-18D62F12A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514850"/>
            <a:ext cx="1828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93A4B8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93A4B8"/>
                </a:solidFill>
                <a:latin typeface="Menlo"/>
                <a:ea typeface="Menlo"/>
                <a:cs typeface="Menlo"/>
              </a:rPr>
              <a:t>docs/conformance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77E8F93-6231-4959-9C19-DA886A0D3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334000"/>
            <a:ext cx="923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EFF6F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EFF6FF"/>
                </a:solidFill>
                <a:latin typeface="PingFang SC"/>
                <a:ea typeface="PingFang SC"/>
                <a:cs typeface="PingFang SC"/>
              </a:rPr>
              <a:t>核心纪律：不绕过草案直接写 registry，不手写 generated，不从口头需求实现 runtime。</a:t>
            </a:r>
          </a:p>
        </p:txBody>
      </p:sp>
    </p:spTree>
    <p:extLst>
      <p:ext uri="{BB962C8B-B14F-4D97-AF65-F5344CB8AC3E}">
        <p14:creationId xmlns:p14="http://schemas.microsoft.com/office/powerpoint/2010/main" val="33668839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2BC25BE-ADA1-4685-9A6B-681B93FF7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00FE56-F9F6-466C-AD44-D2F6C8EC2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253B5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05D99A-C07B-4410-B237-A59D1C3CC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57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C9F0"/>
          </a:solidFill>
          <a:ln xmlns:a="http://schemas.openxmlformats.org/drawingml/2006/main" w="0">
            <a:solidFill>
              <a:srgbClr val="4CC9F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77FD80-E0A5-470A-A79B-3B37EBCFC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" y="0"/>
            <a:ext cx="4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E6AC"/>
          </a:solidFill>
          <a:ln xmlns:a="http://schemas.openxmlformats.org/drawingml/2006/main" w="0">
            <a:solidFill>
              <a:srgbClr val="62E6A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9A1BAA-13EC-4D27-9256-A52A9F401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466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1430">
            <a:solidFill>
              <a:srgbClr val="4CC9F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60CE34-A016-4E5A-8A08-8FD7FE70C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7200"/>
            <a:ext cx="1276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CC9F0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4CC9F0"/>
                </a:solidFill>
                <a:latin typeface="PingFang SC"/>
                <a:ea typeface="PingFang SC"/>
                <a:cs typeface="PingFang SC"/>
              </a:rPr>
              <a:t>DOMAIN FEATURE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A9F5C4-9D3A-49B9-B4D6-F12762669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8191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EFF6FF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EFF6FF"/>
                </a:solidFill>
                <a:latin typeface="PingFang SC"/>
                <a:ea typeface="PingFang SC"/>
                <a:cs typeface="PingFang SC"/>
              </a:rPr>
              <a:t>先确认能力边界，再定义方法、事件与 schema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B78D75-FDF8-4E4D-B45E-283833FC1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748E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F748E"/>
                </a:solidFill>
                <a:latin typeface="PingFang SC"/>
                <a:ea typeface="PingFang SC"/>
                <a:cs typeface="PingFang SC"/>
              </a:rPr>
              <a:t>AXTP Kickoff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D7271E-F3D2-4574-A3E0-388254A59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286500"/>
            <a:ext cx="38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748E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5F748E"/>
                </a:solidFill>
                <a:latin typeface="Menlo"/>
                <a:ea typeface="Menlo"/>
                <a:cs typeface="Menlo"/>
              </a:rPr>
              <a:t>07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87BE4F-ED5D-46CD-8B40-5D269EB7E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15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3B5C"/>
          </a:solidFill>
          <a:ln xmlns:a="http://schemas.openxmlformats.org/drawingml/2006/main" w="0">
            <a:solidFill>
              <a:srgbClr val="253B5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A7F819-E041-4BF4-B8FB-91CAC29F0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19250"/>
            <a:ext cx="96774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A2E"/>
          </a:solidFill>
          <a:ln xmlns:a="http://schemas.openxmlformats.org/drawingml/2006/main" w="9525">
            <a:solidFill>
              <a:srgbClr val="253B5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32AA0C-CE48-43A1-99CF-45B6DE506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847850"/>
            <a:ext cx="9105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EFF6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EFF6FF"/>
                </a:solidFill>
                <a:latin typeface="PingFang SC"/>
                <a:ea typeface="PingFang SC"/>
                <a:cs typeface="PingFang SC"/>
              </a:rPr>
              <a:t>AXTP 不从“新增 command”开始，而是从 domain.feature 开始。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2BBF6D-D368-466A-AF7E-62F1FE47E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914650"/>
            <a:ext cx="40767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A"/>
          </a:solidFill>
          <a:ln xmlns:a="http://schemas.openxmlformats.org/drawingml/2006/main" w="9525">
            <a:solidFill>
              <a:srgbClr val="4CC9F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621CF8-053D-4FCD-B996-1343D92D4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019425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CC9F0"/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4CC9F0"/>
                </a:solidFill>
                <a:latin typeface="Menlo"/>
                <a:ea typeface="Menlo"/>
                <a:cs typeface="Menlo"/>
              </a:rPr>
              <a:t>domain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F201F8-CE8C-4D6C-9272-F50E3474F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0099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EFF6FF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EFF6FF"/>
                </a:solidFill>
                <a:latin typeface="PingFang SC"/>
                <a:ea typeface="PingFang SC"/>
                <a:cs typeface="PingFang SC"/>
              </a:rPr>
              <a:t>大业务域，例如 audio / video / camera / network / firmware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4C42B6-B1AD-41B2-AC0D-2768C263F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733800"/>
            <a:ext cx="40767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A"/>
          </a:solidFill>
          <a:ln xmlns:a="http://schemas.openxmlformats.org/drawingml/2006/main" w="9525">
            <a:solidFill>
              <a:srgbClr val="62E6A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76A73A-0718-4027-9CC8-161E1CF9B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838575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2E6AC"/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62E6AC"/>
                </a:solidFill>
                <a:latin typeface="Menlo"/>
                <a:ea typeface="Menlo"/>
                <a:cs typeface="Menlo"/>
              </a:rPr>
              <a:t>domain.feature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E04554-867A-491F-A000-FA54AE93D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8290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EFF6FF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EFF6FF"/>
                </a:solidFill>
                <a:latin typeface="PingFang SC"/>
                <a:ea typeface="PingFang SC"/>
                <a:cs typeface="PingFang SC"/>
              </a:rPr>
              <a:t>稳定能力块，例如 audio.algorithm、network.wifi、firmware.update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84C217-D1C0-4724-B6DB-702A41296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552950"/>
            <a:ext cx="40767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A"/>
          </a:solidFill>
          <a:ln xmlns:a="http://schemas.openxmlformats.org/drawingml/2006/main" w="9525">
            <a:solidFill>
              <a:srgbClr val="FFB86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75ACCAB-79CA-442A-9590-E7E37F30C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657725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B86B"/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FFB86B"/>
                </a:solidFill>
                <a:latin typeface="Menlo"/>
                <a:ea typeface="Menlo"/>
                <a:cs typeface="Menlo"/>
              </a:rPr>
              <a:t>method / event / schema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B6D2E5-FC05-461A-B67A-0346139AE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6482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EFF6FF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EFF6FF"/>
                </a:solidFill>
                <a:latin typeface="PingFang SC"/>
                <a:ea typeface="PingFang SC"/>
                <a:cs typeface="PingFang SC"/>
              </a:rPr>
              <a:t>具体动作、状态变化、参数和返回值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E4533C4-BEB6-4DC2-B449-1B1E361E6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800350"/>
            <a:ext cx="4038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A2E"/>
          </a:solidFill>
          <a:ln xmlns:a="http://schemas.openxmlformats.org/drawingml/2006/main" w="9525">
            <a:solidFill>
              <a:srgbClr val="253B5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6E24A96-81AD-437D-A1B7-AE6E31F1C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886075"/>
            <a:ext cx="1409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CC9F0"/>
                </a:solidFill>
                <a:latin typeface="Menlo"/>
                <a:ea typeface="Menlo"/>
                <a:cs typeface="Menlo"/>
              </a:defRPr>
            </a:pPr>
            <a:r>
              <a:rPr sz="1125" b="1">
                <a:solidFill>
                  <a:srgbClr val="4CC9F0"/>
                </a:solidFill>
                <a:latin typeface="Menlo"/>
                <a:ea typeface="Menlo"/>
                <a:cs typeface="Menlo"/>
              </a:rPr>
              <a:t>audio.algorithm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91B645D-5256-499D-B0EE-38723AD5A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895600"/>
            <a:ext cx="1943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EFF6FF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EFF6FF"/>
                </a:solidFill>
                <a:latin typeface="Menlo"/>
                <a:ea typeface="Menlo"/>
                <a:cs typeface="Menlo"/>
              </a:rPr>
              <a:t>getCapabilities / setConfig / configChanged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2665411-E36B-4C34-8D5B-E093452FB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467100"/>
            <a:ext cx="4038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A2E"/>
          </a:solidFill>
          <a:ln xmlns:a="http://schemas.openxmlformats.org/drawingml/2006/main" w="9525">
            <a:solidFill>
              <a:srgbClr val="253B5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6239819-48AD-45A3-B972-956121051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552825"/>
            <a:ext cx="1409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CC9F0"/>
                </a:solidFill>
                <a:latin typeface="Menlo"/>
                <a:ea typeface="Menlo"/>
                <a:cs typeface="Menlo"/>
              </a:defRPr>
            </a:pPr>
            <a:r>
              <a:rPr sz="1125" b="1">
                <a:solidFill>
                  <a:srgbClr val="4CC9F0"/>
                </a:solidFill>
                <a:latin typeface="Menlo"/>
                <a:ea typeface="Menlo"/>
                <a:cs typeface="Menlo"/>
              </a:rPr>
              <a:t>network.wifi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FE90D3E-52BC-447E-8C46-17EBEB4A0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562350"/>
            <a:ext cx="1943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EFF6FF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EFF6FF"/>
                </a:solidFill>
                <a:latin typeface="Menlo"/>
                <a:ea typeface="Menlo"/>
                <a:cs typeface="Menlo"/>
              </a:rPr>
              <a:t>getConfig / setConfig / configChanged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8CF4395-96FC-445B-A8BA-06410FD46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133850"/>
            <a:ext cx="4038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A2E"/>
          </a:solidFill>
          <a:ln xmlns:a="http://schemas.openxmlformats.org/drawingml/2006/main" w="9525">
            <a:solidFill>
              <a:srgbClr val="253B5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20A847B-17FD-47D0-84AE-CF26EE8F9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219575"/>
            <a:ext cx="1409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CC9F0"/>
                </a:solidFill>
                <a:latin typeface="Menlo"/>
                <a:ea typeface="Menlo"/>
                <a:cs typeface="Menlo"/>
              </a:defRPr>
            </a:pPr>
            <a:r>
              <a:rPr sz="1125" b="1">
                <a:solidFill>
                  <a:srgbClr val="4CC9F0"/>
                </a:solidFill>
                <a:latin typeface="Menlo"/>
                <a:ea typeface="Menlo"/>
                <a:cs typeface="Menlo"/>
              </a:rPr>
              <a:t>firmware.update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E39FC9A-52E6-47C8-B9EF-61F5CD15E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229100"/>
            <a:ext cx="1943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EFF6FF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EFF6FF"/>
                </a:solidFill>
                <a:latin typeface="Menlo"/>
                <a:ea typeface="Menlo"/>
                <a:cs typeface="Menlo"/>
              </a:rPr>
              <a:t>prepare / install / stateChanged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31FB3F8-D321-49FB-8469-C04C0B7AE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800600"/>
            <a:ext cx="4038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A2E"/>
          </a:solidFill>
          <a:ln xmlns:a="http://schemas.openxmlformats.org/drawingml/2006/main" w="9525">
            <a:solidFill>
              <a:srgbClr val="253B5C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F21A4CE-198C-43D0-8B56-87F378B77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886325"/>
            <a:ext cx="1409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CC9F0"/>
                </a:solidFill>
                <a:latin typeface="Menlo"/>
                <a:ea typeface="Menlo"/>
                <a:cs typeface="Menlo"/>
              </a:defRPr>
            </a:pPr>
            <a:r>
              <a:rPr sz="1125" b="1">
                <a:solidFill>
                  <a:srgbClr val="4CC9F0"/>
                </a:solidFill>
                <a:latin typeface="Menlo"/>
                <a:ea typeface="Menlo"/>
                <a:cs typeface="Menlo"/>
              </a:rPr>
              <a:t>video.framing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687A046-A9A7-4200-9E97-7AA313D39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895850"/>
            <a:ext cx="1943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EFF6FF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EFF6FF"/>
                </a:solidFill>
                <a:latin typeface="Menlo"/>
                <a:ea typeface="Menlo"/>
                <a:cs typeface="Menlo"/>
              </a:rPr>
              <a:t>getConfig / setConfig / framingChanged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36DF4D5-62FA-4301-8ED4-F103A9017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657850"/>
            <a:ext cx="962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93A4B8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93A4B8"/>
                </a:solidFill>
                <a:latin typeface="PingFang SC"/>
                <a:ea typeface="PingFang SC"/>
                <a:cs typeface="PingFang SC"/>
              </a:rPr>
              <a:t>这一步决定 SDK、mock server、测试和文档如何组织，也决定旧协议迁移时哪些能力应该保留、合并或废弃。</a:t>
            </a:r>
          </a:p>
        </p:txBody>
      </p:sp>
    </p:spTree>
    <p:extLst>
      <p:ext uri="{BB962C8B-B14F-4D97-AF65-F5344CB8AC3E}">
        <p14:creationId xmlns:p14="http://schemas.microsoft.com/office/powerpoint/2010/main" val="101899770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0614A79-3332-4FCC-AA74-90693B33F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00D4B3-0FCF-4D50-8247-CCF425316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253B5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41B26C-F951-45C0-96C2-0CB27DFD9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57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C9F0"/>
          </a:solidFill>
          <a:ln xmlns:a="http://schemas.openxmlformats.org/drawingml/2006/main" w="0">
            <a:solidFill>
              <a:srgbClr val="4CC9F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3879FA-AC42-4E25-8C75-65AAC7F94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" y="0"/>
            <a:ext cx="4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E6AC"/>
          </a:solidFill>
          <a:ln xmlns:a="http://schemas.openxmlformats.org/drawingml/2006/main" w="0">
            <a:solidFill>
              <a:srgbClr val="62E6A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270FDE-FC1D-43B7-BB70-8B6BD715E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466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1430">
            <a:solidFill>
              <a:srgbClr val="4CC9F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B84DCE-3051-4F23-979A-7D01CB863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7200"/>
            <a:ext cx="1276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CC9F0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4CC9F0"/>
                </a:solidFill>
                <a:latin typeface="PingFang SC"/>
                <a:ea typeface="PingFang SC"/>
                <a:cs typeface="PingFang SC"/>
              </a:rPr>
              <a:t>ROLE MAP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ECA768-6E4E-48DB-B4AE-441001DAE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8191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EFF6FF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EFF6FF"/>
                </a:solidFill>
                <a:latin typeface="PingFang SC"/>
                <a:ea typeface="PingFang SC"/>
                <a:cs typeface="PingFang SC"/>
              </a:rPr>
              <a:t>入口不同，但大家遵循同一条协议生命周期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B6C55C-093F-4126-B53F-06520A6A8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748E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F748E"/>
                </a:solidFill>
                <a:latin typeface="PingFang SC"/>
                <a:ea typeface="PingFang SC"/>
                <a:cs typeface="PingFang SC"/>
              </a:rPr>
              <a:t>AXTP Kickoff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E8F207-4B50-46B9-83F6-2A3C111CF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286500"/>
            <a:ext cx="38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748E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5F748E"/>
                </a:solidFill>
                <a:latin typeface="Menlo"/>
                <a:ea typeface="Menlo"/>
                <a:cs typeface="Menlo"/>
              </a:rPr>
              <a:t>08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CD8A10-24B3-474F-8D66-41316E8FF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15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3B5C"/>
          </a:solidFill>
          <a:ln xmlns:a="http://schemas.openxmlformats.org/drawingml/2006/main" w="0">
            <a:solidFill>
              <a:srgbClr val="253B5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7DE246-6897-4D6D-8E07-8540560AE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09750"/>
            <a:ext cx="169545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A2E"/>
          </a:solidFill>
          <a:ln xmlns:a="http://schemas.openxmlformats.org/drawingml/2006/main" w="10478">
            <a:solidFill>
              <a:srgbClr val="4CC9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594C92-C4AE-4835-BD51-FA204CFC6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3835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4CC9F0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4CC9F0"/>
                </a:solidFill>
                <a:latin typeface="PingFang SC"/>
                <a:ea typeface="PingFang SC"/>
                <a:cs typeface="PingFang SC"/>
              </a:rPr>
              <a:t>产品 / 业务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E91111-A969-4031-B0EE-DC4B278E2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71750"/>
            <a:ext cx="13525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EFF6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EFF6FF"/>
                </a:solidFill>
                <a:latin typeface="Menlo"/>
                <a:ea typeface="Menlo"/>
                <a:cs typeface="Menlo"/>
              </a:rPr>
              <a:t>docs/business</a:t>
            </a:r>
          </a:p>
          <a:p xmlns:a="http://schemas.openxmlformats.org/drawingml/2006/main">
            <a:pPr algn="ctr">
              <a:defRPr sz="1050" b="0">
                <a:solidFill>
                  <a:srgbClr val="EFF6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EFF6FF"/>
                </a:solidFill>
                <a:latin typeface="Menlo"/>
                <a:ea typeface="Menlo"/>
                <a:cs typeface="Menlo"/>
              </a:rPr>
              <a:t>docs/flows</a:t>
            </a:r>
          </a:p>
          <a:p xmlns:a="http://schemas.openxmlformats.org/drawingml/2006/main">
            <a:pPr algn="ctr">
              <a:defRPr sz="1050" b="0">
                <a:solidFill>
                  <a:srgbClr val="EFF6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EFF6FF"/>
                </a:solidFill>
                <a:latin typeface="Menlo"/>
                <a:ea typeface="Menlo"/>
                <a:cs typeface="Menlo"/>
              </a:rPr>
              <a:t>legacy evidence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F19179-6FCE-4CFD-B785-2CC8A51EE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952750"/>
            <a:ext cx="457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276"/>
          </a:solidFill>
          <a:ln xmlns:a="http://schemas.openxmlformats.org/drawingml/2006/main" w="0">
            <a:solidFill>
              <a:srgbClr val="35527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24E157-878B-4AB2-83AC-AD24A0B5C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2819400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55276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355276"/>
                </a:solidFill>
                <a:latin typeface="Menlo"/>
                <a:ea typeface="Menlo"/>
                <a:cs typeface="Menlo"/>
              </a:rPr>
              <a:t>&gt;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48377C-5A16-4682-8DA1-9E471295E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809750"/>
            <a:ext cx="169545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A2E"/>
          </a:solidFill>
          <a:ln xmlns:a="http://schemas.openxmlformats.org/drawingml/2006/main" w="10478">
            <a:solidFill>
              <a:srgbClr val="62E6A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A788E2-4BC7-4E3F-9087-D10B60288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03835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62E6AC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62E6AC"/>
                </a:solidFill>
                <a:latin typeface="PingFang SC"/>
                <a:ea typeface="PingFang SC"/>
                <a:cs typeface="PingFang SC"/>
              </a:rPr>
              <a:t>协议 / 架构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D2F1C7-D465-48C2-85AC-3FD78DD52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571750"/>
            <a:ext cx="13525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EFF6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EFF6FF"/>
                </a:solidFill>
                <a:latin typeface="Menlo"/>
                <a:ea typeface="Menlo"/>
                <a:cs typeface="Menlo"/>
              </a:rPr>
              <a:t>docs/protocol</a:t>
            </a:r>
          </a:p>
          <a:p xmlns:a="http://schemas.openxmlformats.org/drawingml/2006/main">
            <a:pPr algn="ctr">
              <a:defRPr sz="1050" b="0">
                <a:solidFill>
                  <a:srgbClr val="EFF6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EFF6FF"/>
                </a:solidFill>
                <a:latin typeface="Menlo"/>
                <a:ea typeface="Menlo"/>
                <a:cs typeface="Menlo"/>
              </a:rPr>
              <a:t>registry</a:t>
            </a:r>
          </a:p>
          <a:p xmlns:a="http://schemas.openxmlformats.org/drawingml/2006/main">
            <a:pPr algn="ctr">
              <a:defRPr sz="1050" b="0">
                <a:solidFill>
                  <a:srgbClr val="EFF6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EFF6FF"/>
                </a:solidFill>
                <a:latin typeface="Menlo"/>
                <a:ea typeface="Menlo"/>
                <a:cs typeface="Menlo"/>
              </a:rPr>
              <a:t>generate + validate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F4A704-4D69-4264-BC79-4E086AEC1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952750"/>
            <a:ext cx="457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276"/>
          </a:solidFill>
          <a:ln xmlns:a="http://schemas.openxmlformats.org/drawingml/2006/main" w="0">
            <a:solidFill>
              <a:srgbClr val="35527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1123C8-CD36-43E2-ADAD-1139DD322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819400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55276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355276"/>
                </a:solidFill>
                <a:latin typeface="Menlo"/>
                <a:ea typeface="Menlo"/>
                <a:cs typeface="Menlo"/>
              </a:rPr>
              <a:t>&gt;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C73ECE3-5438-4E7F-8319-135CC58E4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09750"/>
            <a:ext cx="169545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A2E"/>
          </a:solidFill>
          <a:ln xmlns:a="http://schemas.openxmlformats.org/drawingml/2006/main" w="10478">
            <a:solidFill>
              <a:srgbClr val="FFB86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25FB090-4813-4D23-916D-E19733A95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03835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B86B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B86B"/>
                </a:solidFill>
                <a:latin typeface="PingFang SC"/>
                <a:ea typeface="PingFang SC"/>
                <a:cs typeface="PingFang SC"/>
              </a:rPr>
              <a:t>Runtime / SDK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4C7FF26-82BD-4E7B-9C71-4B23607B0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571750"/>
            <a:ext cx="13525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EFF6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EFF6FF"/>
                </a:solidFill>
                <a:latin typeface="Menlo"/>
                <a:ea typeface="Menlo"/>
                <a:cs typeface="Menlo"/>
              </a:rPr>
              <a:t>AXTP_SPEC.lock</a:t>
            </a:r>
          </a:p>
          <a:p xmlns:a="http://schemas.openxmlformats.org/drawingml/2006/main">
            <a:pPr algn="ctr">
              <a:defRPr sz="1050" b="0">
                <a:solidFill>
                  <a:srgbClr val="EFF6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EFF6FF"/>
                </a:solidFill>
                <a:latin typeface="Menlo"/>
                <a:ea typeface="Menlo"/>
                <a:cs typeface="Menlo"/>
              </a:rPr>
              <a:t>protocol yaml</a:t>
            </a:r>
          </a:p>
          <a:p xmlns:a="http://schemas.openxmlformats.org/drawingml/2006/main">
            <a:pPr algn="ctr">
              <a:defRPr sz="1050" b="0">
                <a:solidFill>
                  <a:srgbClr val="EFF6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EFF6FF"/>
                </a:solidFill>
                <a:latin typeface="Menlo"/>
                <a:ea typeface="Menlo"/>
                <a:cs typeface="Menlo"/>
              </a:rPr>
              <a:t>docs/conformance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2CB7587-32C1-41DF-9C6E-063942049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952750"/>
            <a:ext cx="457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276"/>
          </a:solidFill>
          <a:ln xmlns:a="http://schemas.openxmlformats.org/drawingml/2006/main" w="0">
            <a:solidFill>
              <a:srgbClr val="35527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77B53CB-4F48-40A1-867E-EECC0515B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2819400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55276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355276"/>
                </a:solidFill>
                <a:latin typeface="Menlo"/>
                <a:ea typeface="Menlo"/>
                <a:cs typeface="Menlo"/>
              </a:rPr>
              <a:t>&gt;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456F7A0-5C3A-45A3-96B7-DD0925F1E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809750"/>
            <a:ext cx="169545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A2E"/>
          </a:solidFill>
          <a:ln xmlns:a="http://schemas.openxmlformats.org/drawingml/2006/main" w="10478">
            <a:solidFill>
              <a:srgbClr val="FF6B8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D7D4EFE-CD28-4238-B81C-94EAB1CAA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03835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6B8A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6B8A"/>
                </a:solidFill>
                <a:latin typeface="PingFang SC"/>
                <a:ea typeface="PingFang SC"/>
                <a:cs typeface="PingFang SC"/>
              </a:rPr>
              <a:t>测试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38FFFAC-E554-4860-8CDB-68A78F12E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571750"/>
            <a:ext cx="13525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EFF6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EFF6FF"/>
                </a:solidFill>
                <a:latin typeface="Menlo"/>
                <a:ea typeface="Menlo"/>
                <a:cs typeface="Menlo"/>
              </a:rPr>
              <a:t>generated json</a:t>
            </a:r>
          </a:p>
          <a:p xmlns:a="http://schemas.openxmlformats.org/drawingml/2006/main">
            <a:pPr algn="ctr">
              <a:defRPr sz="1050" b="0">
                <a:solidFill>
                  <a:srgbClr val="EFF6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EFF6FF"/>
                </a:solidFill>
                <a:latin typeface="Menlo"/>
                <a:ea typeface="Menlo"/>
                <a:cs typeface="Menlo"/>
              </a:rPr>
              <a:t>manifest.yaml</a:t>
            </a:r>
          </a:p>
          <a:p xmlns:a="http://schemas.openxmlformats.org/drawingml/2006/main">
            <a:pPr algn="ctr">
              <a:defRPr sz="1050" b="0">
                <a:solidFill>
                  <a:srgbClr val="EFF6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EFF6FF"/>
                </a:solidFill>
                <a:latin typeface="Menlo"/>
                <a:ea typeface="Menlo"/>
                <a:cs typeface="Menlo"/>
              </a:rPr>
              <a:t>cases/**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A6D8445-879E-4F8A-8A9D-8F89BE472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952750"/>
            <a:ext cx="457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276"/>
          </a:solidFill>
          <a:ln xmlns:a="http://schemas.openxmlformats.org/drawingml/2006/main" w="0">
            <a:solidFill>
              <a:srgbClr val="35527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198C52B-7DA2-407B-9D64-14684A322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2819400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55276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355276"/>
                </a:solidFill>
                <a:latin typeface="Menlo"/>
                <a:ea typeface="Menlo"/>
                <a:cs typeface="Menlo"/>
              </a:rPr>
              <a:t>&gt;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BCF27A3-AEC0-4D79-B2B3-19A3A2AE8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1809750"/>
            <a:ext cx="169545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A2E"/>
          </a:solidFill>
          <a:ln xmlns:a="http://schemas.openxmlformats.org/drawingml/2006/main" w="10478">
            <a:solidFill>
              <a:srgbClr val="A78BF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7E0DE3A-8B8B-444E-A9A7-53004262F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03835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A78BFA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A78BFA"/>
                </a:solidFill>
                <a:latin typeface="PingFang SC"/>
                <a:ea typeface="PingFang SC"/>
                <a:cs typeface="PingFang SC"/>
              </a:rPr>
              <a:t>发布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8749E02-803F-4CE0-A6C8-584D531A9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571750"/>
            <a:ext cx="13525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EFF6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EFF6FF"/>
                </a:solidFill>
                <a:latin typeface="Menlo"/>
                <a:ea typeface="Menlo"/>
                <a:cs typeface="Menlo"/>
              </a:rPr>
              <a:t>docs/release</a:t>
            </a:r>
          </a:p>
          <a:p xmlns:a="http://schemas.openxmlformats.org/drawingml/2006/main">
            <a:pPr algn="ctr">
              <a:defRPr sz="1050" b="0">
                <a:solidFill>
                  <a:srgbClr val="EFF6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EFF6FF"/>
                </a:solidFill>
                <a:latin typeface="Menlo"/>
                <a:ea typeface="Menlo"/>
                <a:cs typeface="Menlo"/>
              </a:rPr>
              <a:t>spec artifact</a:t>
            </a:r>
          </a:p>
          <a:p xmlns:a="http://schemas.openxmlformats.org/drawingml/2006/main">
            <a:pPr algn="ctr">
              <a:defRPr sz="1050" b="0">
                <a:solidFill>
                  <a:srgbClr val="EFF6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EFF6FF"/>
                </a:solidFill>
                <a:latin typeface="Menlo"/>
                <a:ea typeface="Menlo"/>
                <a:cs typeface="Menlo"/>
              </a:rPr>
              <a:t>runtime matrix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F1656AD-E29A-4DFA-9D39-CD5083278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800600"/>
            <a:ext cx="85344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A"/>
          </a:solidFill>
          <a:ln xmlns:a="http://schemas.openxmlformats.org/drawingml/2006/main" w="9525">
            <a:solidFill>
              <a:srgbClr val="253B5C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94EB7EA-5C86-4C0E-8F76-5E45837BD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991100"/>
            <a:ext cx="7924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EFF6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EFF6FF"/>
                </a:solidFill>
                <a:latin typeface="PingFang SC"/>
                <a:ea typeface="PingFang SC"/>
                <a:cs typeface="PingFang SC"/>
              </a:rPr>
              <a:t>统一判断：这个需求在哪里输入？草案在哪里评审？事实在哪里锁定？runtime 从哪里实现？测试按什么验收？</a:t>
            </a:r>
          </a:p>
        </p:txBody>
      </p:sp>
    </p:spTree>
    <p:extLst>
      <p:ext uri="{BB962C8B-B14F-4D97-AF65-F5344CB8AC3E}">
        <p14:creationId xmlns:p14="http://schemas.microsoft.com/office/powerpoint/2010/main" val="187817921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B6208D5-FDA9-4844-8AF5-378B0E6ED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414202-6A74-4DCF-98A4-62F4D0BCB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253B5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21F429-D4DC-422A-B20E-F46C38854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57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C9F0"/>
          </a:solidFill>
          <a:ln xmlns:a="http://schemas.openxmlformats.org/drawingml/2006/main" w="0">
            <a:solidFill>
              <a:srgbClr val="4CC9F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D3C89F-D41D-4E7F-9B59-B0D4A160E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" y="0"/>
            <a:ext cx="4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E6AC"/>
          </a:solidFill>
          <a:ln xmlns:a="http://schemas.openxmlformats.org/drawingml/2006/main" w="0">
            <a:solidFill>
              <a:srgbClr val="62E6A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F4DA28-6108-4FF6-B4A3-26C3B107F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466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1430">
            <a:solidFill>
              <a:srgbClr val="4CC9F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D46A9C-27FD-4B0B-8410-E4793820C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7200"/>
            <a:ext cx="1276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CC9F0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4CC9F0"/>
                </a:solidFill>
                <a:latin typeface="PingFang SC"/>
                <a:ea typeface="PingFang SC"/>
                <a:cs typeface="PingFang SC"/>
              </a:rPr>
              <a:t>PHASE 1 CORE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3BB239-3978-4414-AA54-30A69FF59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8191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EFF6FF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EFF6FF"/>
                </a:solidFill>
                <a:latin typeface="PingFang SC"/>
                <a:ea typeface="PingFang SC"/>
                <a:cs typeface="PingFang SC"/>
              </a:rPr>
              <a:t>第一阶段只跑通最小核心链路，不背未来复杂度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FC9BE5-938D-4C13-8ED9-874AC3706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748E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F748E"/>
                </a:solidFill>
                <a:latin typeface="PingFang SC"/>
                <a:ea typeface="PingFang SC"/>
                <a:cs typeface="PingFang SC"/>
              </a:rPr>
              <a:t>AXTP Kickoff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F7809E-3EFF-4AE5-8004-B23F223D4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286500"/>
            <a:ext cx="38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748E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5F748E"/>
                </a:solidFill>
                <a:latin typeface="Menlo"/>
                <a:ea typeface="Menlo"/>
                <a:cs typeface="Menlo"/>
              </a:rPr>
              <a:t>09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F06545-D3F5-420E-85A5-98648C671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15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3B5C"/>
          </a:solidFill>
          <a:ln xmlns:a="http://schemas.openxmlformats.org/drawingml/2006/main" w="0">
            <a:solidFill>
              <a:srgbClr val="253B5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51C52A-C4B9-4133-9704-82AB8E60C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61925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CC9F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4CC9F0"/>
                </a:solidFill>
                <a:latin typeface="PingFang SC"/>
                <a:ea typeface="PingFang SC"/>
                <a:cs typeface="PingFang SC"/>
              </a:rPr>
              <a:t>Client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777DEF-936D-429D-BB8F-2B6CFDBDD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161925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2E6AC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62E6AC"/>
                </a:solidFill>
                <a:latin typeface="PingFang SC"/>
                <a:ea typeface="PingFang SC"/>
                <a:cs typeface="PingFang SC"/>
              </a:rPr>
              <a:t>Server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D15999-DB34-4D71-93EF-61216DD62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1943100"/>
            <a:ext cx="19050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276"/>
          </a:solidFill>
          <a:ln xmlns:a="http://schemas.openxmlformats.org/drawingml/2006/main" w="0">
            <a:solidFill>
              <a:srgbClr val="35527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84A311-2437-4377-98F9-4CFAC53E7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1943100"/>
            <a:ext cx="19050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276"/>
          </a:solidFill>
          <a:ln xmlns:a="http://schemas.openxmlformats.org/drawingml/2006/main" w="0">
            <a:solidFill>
              <a:srgbClr val="35527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4F61BD-4C3F-4149-A16E-8AB28D8C8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190750"/>
            <a:ext cx="733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C9F0"/>
          </a:solidFill>
          <a:ln xmlns:a="http://schemas.openxmlformats.org/drawingml/2006/main" w="0">
            <a:solidFill>
              <a:srgbClr val="4CC9F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B8839C-D5BE-40A5-A05A-73B49BAE5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076450"/>
            <a:ext cx="209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CC9F0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4CC9F0"/>
                </a:solidFill>
                <a:latin typeface="Menlo"/>
                <a:ea typeface="Menlo"/>
                <a:cs typeface="Menlo"/>
              </a:rPr>
              <a:t>&gt;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A1BDE6-F3B1-47D5-BCCE-B3DFC86BC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057400"/>
            <a:ext cx="3543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0" rIns="5715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EFF6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EFF6FF"/>
                </a:solidFill>
                <a:latin typeface="Menlo"/>
                <a:ea typeface="Menlo"/>
                <a:cs typeface="Menlo"/>
              </a:rPr>
              <a:t>CONTROL OPEN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472CA7-4D24-482F-A7E1-70562F4C2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590800"/>
            <a:ext cx="733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C9F0"/>
          </a:solidFill>
          <a:ln xmlns:a="http://schemas.openxmlformats.org/drawingml/2006/main" w="0">
            <a:solidFill>
              <a:srgbClr val="4CC9F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3FBFAB-8B5F-41FD-9604-B9F01AD46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476500"/>
            <a:ext cx="209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CC9F0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4CC9F0"/>
                </a:solidFill>
                <a:latin typeface="Menlo"/>
                <a:ea typeface="Menlo"/>
                <a:cs typeface="Menlo"/>
              </a:rPr>
              <a:t>&lt;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34BFB80-2DBD-4CF8-A5F5-4788DD467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457450"/>
            <a:ext cx="3543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0" rIns="5715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EFF6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EFF6FF"/>
                </a:solidFill>
                <a:latin typeface="Menlo"/>
                <a:ea typeface="Menlo"/>
                <a:cs typeface="Menlo"/>
              </a:rPr>
              <a:t>CONTROL ACCEPT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FEFA87F-1421-42F0-B9D9-894450AF2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990850"/>
            <a:ext cx="733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E6AC"/>
          </a:solidFill>
          <a:ln xmlns:a="http://schemas.openxmlformats.org/drawingml/2006/main" w="0">
            <a:solidFill>
              <a:srgbClr val="62E6A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AFA58CF-BA9A-4B0E-816B-0C64B0C59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876550"/>
            <a:ext cx="209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2E6AC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62E6AC"/>
                </a:solidFill>
                <a:latin typeface="Menlo"/>
                <a:ea typeface="Menlo"/>
                <a:cs typeface="Menlo"/>
              </a:rPr>
              <a:t>&lt;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E927DB0-40C7-48FB-B3B9-47E252CCB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857500"/>
            <a:ext cx="3543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0" rIns="5715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EFF6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EFF6FF"/>
                </a:solidFill>
                <a:latin typeface="Menlo"/>
                <a:ea typeface="Menlo"/>
                <a:cs typeface="Menlo"/>
              </a:rPr>
              <a:t>RPC Hello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A4D3710-AC5D-4B2B-A484-1DD9E6DEA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390900"/>
            <a:ext cx="733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E6AC"/>
          </a:solidFill>
          <a:ln xmlns:a="http://schemas.openxmlformats.org/drawingml/2006/main" w="0">
            <a:solidFill>
              <a:srgbClr val="62E6A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57CFEFF-4693-4B3B-9670-DCE689494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276600"/>
            <a:ext cx="209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2E6AC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62E6AC"/>
                </a:solidFill>
                <a:latin typeface="Menlo"/>
                <a:ea typeface="Menlo"/>
                <a:cs typeface="Menlo"/>
              </a:rPr>
              <a:t>&gt;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C5AB97D-631B-408B-8D82-CF99C84CA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3257550"/>
            <a:ext cx="3543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0" rIns="5715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EFF6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EFF6FF"/>
                </a:solidFill>
                <a:latin typeface="Menlo"/>
                <a:ea typeface="Menlo"/>
                <a:cs typeface="Menlo"/>
              </a:rPr>
              <a:t>RPC Identify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F8A1D89-975D-4688-AB0D-AF28E447D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790950"/>
            <a:ext cx="733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E6AC"/>
          </a:solidFill>
          <a:ln xmlns:a="http://schemas.openxmlformats.org/drawingml/2006/main" w="0">
            <a:solidFill>
              <a:srgbClr val="62E6A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2ADF79F-FBED-4A30-AADF-26213526E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676650"/>
            <a:ext cx="209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2E6AC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62E6AC"/>
                </a:solidFill>
                <a:latin typeface="Menlo"/>
                <a:ea typeface="Menlo"/>
                <a:cs typeface="Menlo"/>
              </a:rPr>
              <a:t>&lt;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D69C848-7E41-4184-9FBE-9C1537DE8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3657600"/>
            <a:ext cx="3543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0" rIns="5715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EFF6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EFF6FF"/>
                </a:solidFill>
                <a:latin typeface="Menlo"/>
                <a:ea typeface="Menlo"/>
                <a:cs typeface="Menlo"/>
              </a:rPr>
              <a:t>RPC Identified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E2CEA06-C7C5-43D2-9241-35CA614B3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191000"/>
            <a:ext cx="733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6B"/>
          </a:solidFill>
          <a:ln xmlns:a="http://schemas.openxmlformats.org/drawingml/2006/main" w="0">
            <a:solidFill>
              <a:srgbClr val="FFB86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C218EE3-9871-433A-8E67-9EB7E394A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076700"/>
            <a:ext cx="209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FB86B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B86B"/>
                </a:solidFill>
                <a:latin typeface="Menlo"/>
                <a:ea typeface="Menlo"/>
                <a:cs typeface="Menlo"/>
              </a:rPr>
              <a:t>&gt;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9C863BF-A553-4CCE-9EF6-2D3B79FB2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4057650"/>
            <a:ext cx="3543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0" rIns="5715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EFF6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EFF6FF"/>
                </a:solidFill>
                <a:latin typeface="Menlo"/>
                <a:ea typeface="Menlo"/>
                <a:cs typeface="Menlo"/>
              </a:rPr>
              <a:t>Request / Response / Event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7FD96C9-A487-4449-BD0A-C05FE4782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591050"/>
            <a:ext cx="733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8A"/>
          </a:solidFill>
          <a:ln xmlns:a="http://schemas.openxmlformats.org/drawingml/2006/main" w="0">
            <a:solidFill>
              <a:srgbClr val="FF6B8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1E6EAB6-B0AC-4524-B60E-98DD1E78F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476750"/>
            <a:ext cx="209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F6B8A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6B8A"/>
                </a:solidFill>
                <a:latin typeface="Menlo"/>
                <a:ea typeface="Menlo"/>
                <a:cs typeface="Menlo"/>
              </a:rPr>
              <a:t>&gt;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D8C19A0-4381-40AC-957D-446631E84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4457700"/>
            <a:ext cx="3543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0" rIns="5715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EFF6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EFF6FF"/>
                </a:solidFill>
                <a:latin typeface="Menlo"/>
                <a:ea typeface="Menlo"/>
                <a:cs typeface="Menlo"/>
              </a:rPr>
              <a:t>HEARTBEAT / HEARTBEAT_ACK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B4D3E9C-CC78-4A01-A211-D3E9C5546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991100"/>
            <a:ext cx="733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8BFA"/>
          </a:solidFill>
          <a:ln xmlns:a="http://schemas.openxmlformats.org/drawingml/2006/main" w="0">
            <a:solidFill>
              <a:srgbClr val="A78BF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77DD40B-FACD-450C-814E-00FF6A97B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876800"/>
            <a:ext cx="209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78BFA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A78BFA"/>
                </a:solidFill>
                <a:latin typeface="Menlo"/>
                <a:ea typeface="Menlo"/>
                <a:cs typeface="Menlo"/>
              </a:rPr>
              <a:t>&gt;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08D9A86-85FD-4237-9353-F490A2683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4857750"/>
            <a:ext cx="3543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0" rIns="5715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EFF6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EFF6FF"/>
                </a:solidFill>
                <a:latin typeface="Menlo"/>
                <a:ea typeface="Menlo"/>
                <a:cs typeface="Menlo"/>
              </a:rPr>
              <a:t>CLOSE / CLOSE_ACK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E1874E2-B550-4FEE-872F-CAB0EF19F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619750"/>
            <a:ext cx="1809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A"/>
          </a:solidFill>
          <a:ln xmlns:a="http://schemas.openxmlformats.org/drawingml/2006/main" w="9525">
            <a:solidFill>
              <a:srgbClr val="4CC9F0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1D86541-22A3-4ABE-B04A-27935D800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686425"/>
            <a:ext cx="1581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4CC9F0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4CC9F0"/>
                </a:solidFill>
                <a:latin typeface="PingFang SC"/>
                <a:ea typeface="PingFang SC"/>
                <a:cs typeface="PingFang SC"/>
              </a:rPr>
              <a:t>实现：OPEN / ACCEPT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E4739C8-DE15-47DC-A78B-71648D4DF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5619750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A"/>
          </a:solidFill>
          <a:ln xmlns:a="http://schemas.openxmlformats.org/drawingml/2006/main" w="9525">
            <a:solidFill>
              <a:srgbClr val="FF6B8A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DBF5501-A0FD-4B8A-A33F-F2E95965C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5686425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6B8A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FF6B8A"/>
                </a:solidFill>
                <a:latin typeface="PingFang SC"/>
                <a:ea typeface="PingFang SC"/>
                <a:cs typeface="PingFang SC"/>
              </a:rPr>
              <a:t>实现：HEARTBEAT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E1259E6-E41F-421A-966D-B6862C699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619750"/>
            <a:ext cx="13144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A"/>
          </a:solidFill>
          <a:ln xmlns:a="http://schemas.openxmlformats.org/drawingml/2006/main" w="9525">
            <a:solidFill>
              <a:srgbClr val="A78BFA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876A5A3-8110-41A0-9DB8-2BD92F438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686425"/>
            <a:ext cx="1085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78BFA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A78BFA"/>
                </a:solidFill>
                <a:latin typeface="PingFang SC"/>
                <a:ea typeface="PingFang SC"/>
                <a:cs typeface="PingFang SC"/>
              </a:rPr>
              <a:t>实现：CLOSE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7A763E3-96AE-4E23-A7B8-9F1E42D0A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619750"/>
            <a:ext cx="24574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A"/>
          </a:solidFill>
          <a:ln xmlns:a="http://schemas.openxmlformats.org/drawingml/2006/main" w="9525">
            <a:solidFill>
              <a:srgbClr val="62E6AC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E6BC739-7142-4666-A606-8081273DE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686425"/>
            <a:ext cx="2228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2E6AC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62E6AC"/>
                </a:solidFill>
                <a:latin typeface="PingFang SC"/>
                <a:ea typeface="PingFang SC"/>
                <a:cs typeface="PingFang SC"/>
              </a:rPr>
              <a:t>实现：RPC Hello / Identify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EB19EDC-F276-4967-9F5E-4F2811287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5619750"/>
            <a:ext cx="2095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A"/>
          </a:solidFill>
          <a:ln xmlns:a="http://schemas.openxmlformats.org/drawingml/2006/main" w="9525">
            <a:solidFill>
              <a:srgbClr val="FFB86B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E3DE4CD-7B97-46CF-9C23-B36D28F44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686425"/>
            <a:ext cx="1866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B86B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FFB86B"/>
                </a:solidFill>
                <a:latin typeface="PingFang SC"/>
                <a:ea typeface="PingFang SC"/>
                <a:cs typeface="PingFang SC"/>
              </a:rPr>
              <a:t>暂缓：ACK/NACK/STREAM</a:t>
            </a:r>
          </a:p>
        </p:txBody>
      </p:sp>
    </p:spTree>
    <p:extLst>
      <p:ext uri="{BB962C8B-B14F-4D97-AF65-F5344CB8AC3E}">
        <p14:creationId xmlns:p14="http://schemas.microsoft.com/office/powerpoint/2010/main" val="205138798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46A202C-C084-45CC-A432-E0A0EC3EC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CB6BB7-2064-4301-9B05-C9E5201B2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253B5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A34779-166E-4A6A-A292-A84A4BCBE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57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C9F0"/>
          </a:solidFill>
          <a:ln xmlns:a="http://schemas.openxmlformats.org/drawingml/2006/main" w="0">
            <a:solidFill>
              <a:srgbClr val="4CC9F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C4E81A-B668-4A5E-A236-745A69419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" y="0"/>
            <a:ext cx="4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E6AC"/>
          </a:solidFill>
          <a:ln xmlns:a="http://schemas.openxmlformats.org/drawingml/2006/main" w="0">
            <a:solidFill>
              <a:srgbClr val="62E6A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C89AEB-67C3-4CAD-AFF7-810C1FF0A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466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1430">
            <a:solidFill>
              <a:srgbClr val="4CC9F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4BFA44-05BF-468B-A5CF-7522524E0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7200"/>
            <a:ext cx="1276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CC9F0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4CC9F0"/>
                </a:solidFill>
                <a:latin typeface="PingFang SC"/>
                <a:ea typeface="PingFang SC"/>
                <a:cs typeface="PingFang SC"/>
              </a:rPr>
              <a:t>ROADMAP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03933F-9734-4E92-A644-29B1480AB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8191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EFF6FF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EFF6FF"/>
                </a:solidFill>
                <a:latin typeface="PingFang SC"/>
                <a:ea typeface="PingFang SC"/>
                <a:cs typeface="PingFang SC"/>
              </a:rPr>
              <a:t>推进顺序：核心可跑，runtime 可验收，再进入真实产品链路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0BC805-F6E4-48F4-A7EC-1B1EFDD64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748E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F748E"/>
                </a:solidFill>
                <a:latin typeface="PingFang SC"/>
                <a:ea typeface="PingFang SC"/>
                <a:cs typeface="PingFang SC"/>
              </a:rPr>
              <a:t>AXTP Kickoff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D8B5DA-645C-4951-A1B4-8F45E57EA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286500"/>
            <a:ext cx="38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748E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5F748E"/>
                </a:solidFill>
                <a:latin typeface="Menlo"/>
                <a:ea typeface="Menlo"/>
                <a:cs typeface="Menlo"/>
              </a:rPr>
              <a:t>10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5CF855-B405-4FF6-9FA0-046D58F25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15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3B5C"/>
          </a:solidFill>
          <a:ln xmlns:a="http://schemas.openxmlformats.org/drawingml/2006/main" w="0">
            <a:solidFill>
              <a:srgbClr val="253B5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143C11-7F86-4E02-9B2F-CBE67707B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76600"/>
            <a:ext cx="10039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276"/>
          </a:solidFill>
          <a:ln xmlns:a="http://schemas.openxmlformats.org/drawingml/2006/main" w="0">
            <a:solidFill>
              <a:srgbClr val="35527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D635EC-1837-40E8-8BE7-E09A43499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819400"/>
            <a:ext cx="19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C9F0"/>
          </a:solidFill>
          <a:ln xmlns:a="http://schemas.openxmlformats.org/drawingml/2006/main" w="0">
            <a:solidFill>
              <a:srgbClr val="4CC9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8806C5-F80B-4013-B114-AD4AF4A9B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00250"/>
            <a:ext cx="10668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A2E"/>
          </a:solidFill>
          <a:ln xmlns:a="http://schemas.openxmlformats.org/drawingml/2006/main" w="9525">
            <a:solidFill>
              <a:srgbClr val="4CC9F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10900B-55E2-4BDA-8014-198BDE3E3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95500"/>
            <a:ext cx="876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4CC9F0"/>
                </a:solidFill>
                <a:latin typeface="Menlo"/>
                <a:ea typeface="Menlo"/>
                <a:cs typeface="Menlo"/>
              </a:defRPr>
            </a:pPr>
            <a:r>
              <a:rPr sz="1050" b="1">
                <a:solidFill>
                  <a:srgbClr val="4CC9F0"/>
                </a:solidFill>
                <a:latin typeface="Menlo"/>
                <a:ea typeface="Menlo"/>
                <a:cs typeface="Menlo"/>
              </a:rPr>
              <a:t>P1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8B2CB7-E039-4242-9EB8-DCBF53CDF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05050"/>
            <a:ext cx="914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EFF6F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EFF6FF"/>
                </a:solidFill>
                <a:latin typeface="PingFang SC"/>
                <a:ea typeface="PingFang SC"/>
                <a:cs typeface="PingFang SC"/>
              </a:rPr>
              <a:t>核心协议冻结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DD7641-3654-4AF2-91F2-C3E58CA7B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33650"/>
            <a:ext cx="914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93A4B8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93A4B8"/>
                </a:solidFill>
                <a:latin typeface="PingFang SC"/>
                <a:ea typeface="PingFang SC"/>
                <a:cs typeface="PingFang SC"/>
              </a:rPr>
              <a:t>Hello / Identify / OPEN / ACCEPT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D88DDF-B8F5-4863-B56C-3C91CC4BB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3276600"/>
            <a:ext cx="190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E6AC"/>
          </a:solidFill>
          <a:ln xmlns:a="http://schemas.openxmlformats.org/drawingml/2006/main" w="0">
            <a:solidFill>
              <a:srgbClr val="62E6A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5CC9FD-F3A7-457A-8EA0-905277D75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3695700"/>
            <a:ext cx="10668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A2E"/>
          </a:solidFill>
          <a:ln xmlns:a="http://schemas.openxmlformats.org/drawingml/2006/main" w="9525">
            <a:solidFill>
              <a:srgbClr val="62E6A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C18EF1-1F92-404D-B50F-E5D87AF00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3790950"/>
            <a:ext cx="876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2E6AC"/>
                </a:solidFill>
                <a:latin typeface="Menlo"/>
                <a:ea typeface="Menlo"/>
                <a:cs typeface="Menlo"/>
              </a:defRPr>
            </a:pPr>
            <a:r>
              <a:rPr sz="1050" b="1">
                <a:solidFill>
                  <a:srgbClr val="62E6AC"/>
                </a:solidFill>
                <a:latin typeface="Menlo"/>
                <a:ea typeface="Menlo"/>
                <a:cs typeface="Menlo"/>
              </a:rPr>
              <a:t>P2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97E180-7728-4962-8919-2EFAF808D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4000500"/>
            <a:ext cx="914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EFF6F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EFF6FF"/>
                </a:solidFill>
                <a:latin typeface="PingFang SC"/>
                <a:ea typeface="PingFang SC"/>
                <a:cs typeface="PingFang SC"/>
              </a:rPr>
              <a:t>Core Runtime MVP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9F3C8F5-F8DF-43DE-BDFE-638FD5437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4229100"/>
            <a:ext cx="914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93A4B8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93A4B8"/>
                </a:solidFill>
                <a:latin typeface="PingFang SC"/>
                <a:ea typeface="PingFang SC"/>
                <a:cs typeface="PingFang SC"/>
              </a:rPr>
              <a:t>Frame / Session / Request / Event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DD10C9E-639C-4914-96A0-35B0B9A94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819400"/>
            <a:ext cx="19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6B"/>
          </a:solidFill>
          <a:ln xmlns:a="http://schemas.openxmlformats.org/drawingml/2006/main" w="0">
            <a:solidFill>
              <a:srgbClr val="FFB86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D6FDF9F-8AFC-46FE-BDB2-78FE6A567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000250"/>
            <a:ext cx="10668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A2E"/>
          </a:solidFill>
          <a:ln xmlns:a="http://schemas.openxmlformats.org/drawingml/2006/main" w="9525">
            <a:solidFill>
              <a:srgbClr val="FFB86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B3A2E4F-20B7-4A6F-963D-25AD38886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095500"/>
            <a:ext cx="876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B86B"/>
                </a:solidFill>
                <a:latin typeface="Menlo"/>
                <a:ea typeface="Menlo"/>
                <a:cs typeface="Menlo"/>
              </a:defRPr>
            </a:pPr>
            <a:r>
              <a:rPr sz="1050" b="1">
                <a:solidFill>
                  <a:srgbClr val="FFB86B"/>
                </a:solidFill>
                <a:latin typeface="Menlo"/>
                <a:ea typeface="Menlo"/>
                <a:cs typeface="Menlo"/>
              </a:rPr>
              <a:t>P3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91E3556-944A-4660-8BF4-50CC36601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305050"/>
            <a:ext cx="914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EFF6F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EFF6FF"/>
                </a:solidFill>
                <a:latin typeface="PingFang SC"/>
                <a:ea typeface="PingFang SC"/>
                <a:cs typeface="PingFang SC"/>
              </a:rPr>
              <a:t>NA20 首个落地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94BAB80-88F1-4A28-A1F9-CDBE2A59B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533650"/>
            <a:ext cx="914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93A4B8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93A4B8"/>
                </a:solidFill>
                <a:latin typeface="PingFang SC"/>
                <a:ea typeface="PingFang SC"/>
                <a:cs typeface="PingFang SC"/>
              </a:rPr>
              <a:t>pairing / OTA / stream / axtpctl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69D3EE9-17CA-40DD-A30F-FB45B6F04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3276600"/>
            <a:ext cx="190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8A"/>
          </a:solidFill>
          <a:ln xmlns:a="http://schemas.openxmlformats.org/drawingml/2006/main" w="0">
            <a:solidFill>
              <a:srgbClr val="FF6B8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BFFBBC6-85E7-4B85-91EC-3CE0FB233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3695700"/>
            <a:ext cx="10668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A2E"/>
          </a:solidFill>
          <a:ln xmlns:a="http://schemas.openxmlformats.org/drawingml/2006/main" w="9525">
            <a:solidFill>
              <a:srgbClr val="FF6B8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CE1AA41-BFC6-4058-9EBA-049C81EE1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3790950"/>
            <a:ext cx="876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6B8A"/>
                </a:solidFill>
                <a:latin typeface="Menlo"/>
                <a:ea typeface="Menlo"/>
                <a:cs typeface="Menlo"/>
              </a:defRPr>
            </a:pPr>
            <a:r>
              <a:rPr sz="1050" b="1">
                <a:solidFill>
                  <a:srgbClr val="FF6B8A"/>
                </a:solidFill>
                <a:latin typeface="Menlo"/>
                <a:ea typeface="Menlo"/>
                <a:cs typeface="Menlo"/>
              </a:rPr>
              <a:t>P4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E010EAE-55B6-44F5-8A6A-DEEC7E64E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4000500"/>
            <a:ext cx="914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EFF6F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EFF6FF"/>
                </a:solidFill>
                <a:latin typeface="PingFang SC"/>
                <a:ea typeface="PingFang SC"/>
                <a:cs typeface="PingFang SC"/>
              </a:rPr>
              <a:t>老协议迁移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B2F25D7-7340-4842-B53D-3F8E19742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4229100"/>
            <a:ext cx="914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93A4B8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93A4B8"/>
                </a:solidFill>
                <a:latin typeface="PingFang SC"/>
                <a:ea typeface="PingFang SC"/>
                <a:cs typeface="PingFang SC"/>
              </a:rPr>
              <a:t>AXDP / Rooms / Signage / VM33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8052AEE-5DFA-42AF-9407-705EF20CC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819400"/>
            <a:ext cx="19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C9F0"/>
          </a:solidFill>
          <a:ln xmlns:a="http://schemas.openxmlformats.org/drawingml/2006/main" w="0">
            <a:solidFill>
              <a:srgbClr val="4CC9F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B5EDA8C-F5D6-41F2-99CD-90AB39B81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000250"/>
            <a:ext cx="10668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A2E"/>
          </a:solidFill>
          <a:ln xmlns:a="http://schemas.openxmlformats.org/drawingml/2006/main" w="9525">
            <a:solidFill>
              <a:srgbClr val="4CC9F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87262FF-7077-4C19-8D45-71E2EEDD4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095500"/>
            <a:ext cx="876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4CC9F0"/>
                </a:solidFill>
                <a:latin typeface="Menlo"/>
                <a:ea typeface="Menlo"/>
                <a:cs typeface="Menlo"/>
              </a:defRPr>
            </a:pPr>
            <a:r>
              <a:rPr sz="1050" b="1">
                <a:solidFill>
                  <a:srgbClr val="4CC9F0"/>
                </a:solidFill>
                <a:latin typeface="Menlo"/>
                <a:ea typeface="Menlo"/>
                <a:cs typeface="Menlo"/>
              </a:rPr>
              <a:t>P5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D815C64-A386-4F22-83F4-1E30FD031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305050"/>
            <a:ext cx="914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EFF6F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EFF6FF"/>
                </a:solidFill>
                <a:latin typeface="PingFang SC"/>
                <a:ea typeface="PingFang SC"/>
                <a:cs typeface="PingFang SC"/>
              </a:rPr>
              <a:t>能力域评审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397C750-6617-4DC5-8AD2-7A81F31C4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533650"/>
            <a:ext cx="914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93A4B8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93A4B8"/>
                </a:solidFill>
                <a:latin typeface="PingFang SC"/>
                <a:ea typeface="PingFang SC"/>
                <a:cs typeface="PingFang SC"/>
              </a:rPr>
              <a:t>device / system / camera / diagnostic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CEE3482-104B-4E50-ADE4-705F25E2D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3276600"/>
            <a:ext cx="190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E6AC"/>
          </a:solidFill>
          <a:ln xmlns:a="http://schemas.openxmlformats.org/drawingml/2006/main" w="0">
            <a:solidFill>
              <a:srgbClr val="62E6AC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FE60369-9484-4A8A-8FA6-9A25DF967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3695700"/>
            <a:ext cx="10668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A2E"/>
          </a:solidFill>
          <a:ln xmlns:a="http://schemas.openxmlformats.org/drawingml/2006/main" w="9525">
            <a:solidFill>
              <a:srgbClr val="62E6AC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682831F-86C7-4D26-BFEE-92FAD14F8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3790950"/>
            <a:ext cx="876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2E6AC"/>
                </a:solidFill>
                <a:latin typeface="Menlo"/>
                <a:ea typeface="Menlo"/>
                <a:cs typeface="Menlo"/>
              </a:defRPr>
            </a:pPr>
            <a:r>
              <a:rPr sz="1050" b="1">
                <a:solidFill>
                  <a:srgbClr val="62E6AC"/>
                </a:solidFill>
                <a:latin typeface="Menlo"/>
                <a:ea typeface="Menlo"/>
                <a:cs typeface="Menlo"/>
              </a:rPr>
              <a:t>P6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AC2EF1C-E144-4640-9E33-0E6BF8C9B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4000500"/>
            <a:ext cx="914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EFF6F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EFF6FF"/>
                </a:solidFill>
                <a:latin typeface="PingFang SC"/>
                <a:ea typeface="PingFang SC"/>
                <a:cs typeface="PingFang SC"/>
              </a:rPr>
              <a:t>发现与工具链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17F6FE2-A640-40AD-A897-04BDC198D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4229100"/>
            <a:ext cx="914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93A4B8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93A4B8"/>
                </a:solidFill>
                <a:latin typeface="PingFang SC"/>
                <a:ea typeface="PingFang SC"/>
                <a:cs typeface="PingFang SC"/>
              </a:rPr>
              <a:t>discovery / probe / replay / inspector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A51F98B-BB20-4F7F-974E-45777E8BA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819400"/>
            <a:ext cx="19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6B"/>
          </a:solidFill>
          <a:ln xmlns:a="http://schemas.openxmlformats.org/drawingml/2006/main" w="0">
            <a:solidFill>
              <a:srgbClr val="FFB86B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6E3C1F2-1AE6-47C2-80F1-A499B0290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000250"/>
            <a:ext cx="10668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A2E"/>
          </a:solidFill>
          <a:ln xmlns:a="http://schemas.openxmlformats.org/drawingml/2006/main" w="9525">
            <a:solidFill>
              <a:srgbClr val="FFB86B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D67FA69-9112-4160-8A85-533816288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095500"/>
            <a:ext cx="876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B86B"/>
                </a:solidFill>
                <a:latin typeface="Menlo"/>
                <a:ea typeface="Menlo"/>
                <a:cs typeface="Menlo"/>
              </a:defRPr>
            </a:pPr>
            <a:r>
              <a:rPr sz="1050" b="1">
                <a:solidFill>
                  <a:srgbClr val="FFB86B"/>
                </a:solidFill>
                <a:latin typeface="Menlo"/>
                <a:ea typeface="Menlo"/>
                <a:cs typeface="Menlo"/>
              </a:rPr>
              <a:t>P7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B7D5656-9C94-446F-89D3-266FFF7EC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305050"/>
            <a:ext cx="914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EFF6F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EFF6FF"/>
                </a:solidFill>
                <a:latin typeface="PingFang SC"/>
                <a:ea typeface="PingFang SC"/>
                <a:cs typeface="PingFang SC"/>
              </a:rPr>
              <a:t>Conformance 发布质量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B63AFBB-698C-4EC1-BA70-9D920108C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533650"/>
            <a:ext cx="914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93A4B8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93A4B8"/>
                </a:solidFill>
                <a:latin typeface="PingFang SC"/>
                <a:ea typeface="PingFang SC"/>
                <a:cs typeface="PingFang SC"/>
              </a:rPr>
              <a:t>core + business suite / matrix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2B5FA9F-4477-44B3-BA23-A8D0095CA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3275" y="3276600"/>
            <a:ext cx="190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8A"/>
          </a:solidFill>
          <a:ln xmlns:a="http://schemas.openxmlformats.org/drawingml/2006/main" w="0">
            <a:solidFill>
              <a:srgbClr val="FF6B8A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CA2F70D-597A-4BEF-A4CF-88B9752A0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6075" y="3695700"/>
            <a:ext cx="10668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A2E"/>
          </a:solidFill>
          <a:ln xmlns:a="http://schemas.openxmlformats.org/drawingml/2006/main" w="9525">
            <a:solidFill>
              <a:srgbClr val="FF6B8A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B6CCEAE-BA49-4953-92CE-FD7D112BB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1325" y="3790950"/>
            <a:ext cx="876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6B8A"/>
                </a:solidFill>
                <a:latin typeface="Menlo"/>
                <a:ea typeface="Menlo"/>
                <a:cs typeface="Menlo"/>
              </a:defRPr>
            </a:pPr>
            <a:r>
              <a:rPr sz="1050" b="1">
                <a:solidFill>
                  <a:srgbClr val="FF6B8A"/>
                </a:solidFill>
                <a:latin typeface="Menlo"/>
                <a:ea typeface="Menlo"/>
                <a:cs typeface="Menlo"/>
              </a:rPr>
              <a:t>v1.0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83DC75A-4EE3-4553-BF1E-66FBD5CA5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2275" y="4000500"/>
            <a:ext cx="914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EFF6F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EFF6FF"/>
                </a:solidFill>
                <a:latin typeface="PingFang SC"/>
                <a:ea typeface="PingFang SC"/>
                <a:cs typeface="PingFang SC"/>
              </a:rPr>
              <a:t>稳定基础设施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90D6C15-9AEF-40C7-B273-83125936C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2275" y="4229100"/>
            <a:ext cx="914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93A4B8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93A4B8"/>
                </a:solidFill>
                <a:latin typeface="PingFang SC"/>
                <a:ea typeface="PingFang SC"/>
                <a:cs typeface="PingFang SC"/>
              </a:rPr>
              <a:t>wire / registry / runtime / release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149DB6B-388F-41AF-A14E-2F9EFB3F6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562600"/>
            <a:ext cx="9563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EFF6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EFF6FF"/>
                </a:solidFill>
                <a:latin typeface="PingFang SC"/>
                <a:ea typeface="PingFang SC"/>
                <a:cs typeface="PingFang SC"/>
              </a:rPr>
              <a:t>节奏原则：不一次性写全所有协议域。先让核心协议可跑，再用真实产品闭环校验，再补齐迁移、工具链和发布质量。</a:t>
            </a:r>
          </a:p>
        </p:txBody>
      </p:sp>
    </p:spTree>
    <p:extLst>
      <p:ext uri="{BB962C8B-B14F-4D97-AF65-F5344CB8AC3E}">
        <p14:creationId xmlns:p14="http://schemas.microsoft.com/office/powerpoint/2010/main" val="1432833920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5024D16-BA5F-494D-BC45-FFB234D4D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99DC73-AA2A-44DC-8D4F-E5D953670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253B5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600055-38C2-45E4-B991-E0BA75546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57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C9F0"/>
          </a:solidFill>
          <a:ln xmlns:a="http://schemas.openxmlformats.org/drawingml/2006/main" w="0">
            <a:solidFill>
              <a:srgbClr val="4CC9F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006CC5-23EB-43EF-A34D-045B1DCF8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" y="0"/>
            <a:ext cx="4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E6AC"/>
          </a:solidFill>
          <a:ln xmlns:a="http://schemas.openxmlformats.org/drawingml/2006/main" w="0">
            <a:solidFill>
              <a:srgbClr val="62E6A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B8A110-E2F9-4A8E-A479-AD581B506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466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1430">
            <a:solidFill>
              <a:srgbClr val="4CC9F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13188A-7BAD-4AA9-A1FD-E7E748404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7200"/>
            <a:ext cx="1276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CC9F0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4CC9F0"/>
                </a:solidFill>
                <a:latin typeface="PingFang SC"/>
                <a:ea typeface="PingFang SC"/>
                <a:cs typeface="PingFang SC"/>
              </a:rPr>
              <a:t>PRIORITY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2E2B6B-FFAC-4170-B68C-DD1E1C0FE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8191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EFF6FF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EFF6FF"/>
                </a:solidFill>
                <a:latin typeface="PingFang SC"/>
                <a:ea typeface="PingFang SC"/>
                <a:cs typeface="PingFang SC"/>
              </a:rPr>
              <a:t>P0/P1/P2 把协议改革落到可执行的交付顺序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BADAC3-3E54-459E-9954-2BB2EEB76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748E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F748E"/>
                </a:solidFill>
                <a:latin typeface="PingFang SC"/>
                <a:ea typeface="PingFang SC"/>
                <a:cs typeface="PingFang SC"/>
              </a:rPr>
              <a:t>AXTP Kickoff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C040BD-D323-4586-AECE-366CFAC16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286500"/>
            <a:ext cx="38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748E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5F748E"/>
                </a:solidFill>
                <a:latin typeface="Menlo"/>
                <a:ea typeface="Menlo"/>
                <a:cs typeface="Menlo"/>
              </a:rPr>
              <a:t>11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EDFA25-983B-4949-8874-F9A0E918B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15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3B5C"/>
          </a:solidFill>
          <a:ln xmlns:a="http://schemas.openxmlformats.org/drawingml/2006/main" w="0">
            <a:solidFill>
              <a:srgbClr val="253B5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CDC4F9-8EA3-4463-9980-8D0AF4DC9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291465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A2E"/>
          </a:solidFill>
          <a:ln xmlns:a="http://schemas.openxmlformats.org/drawingml/2006/main" w="11430">
            <a:solidFill>
              <a:srgbClr val="4CC9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65C23F-BD8B-4000-A8BC-A1E4C160F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943100"/>
            <a:ext cx="590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4CC9F0"/>
                </a:solidFill>
                <a:latin typeface="Menlo"/>
                <a:ea typeface="Menlo"/>
                <a:cs typeface="Menlo"/>
              </a:defRPr>
            </a:pPr>
            <a:r>
              <a:rPr sz="2100" b="1">
                <a:solidFill>
                  <a:srgbClr val="4CC9F0"/>
                </a:solidFill>
                <a:latin typeface="Menlo"/>
                <a:ea typeface="Menlo"/>
                <a:cs typeface="Menlo"/>
              </a:rPr>
              <a:t>P0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01A416-2B20-4146-8CE6-18CA68601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009775"/>
            <a:ext cx="1695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FF6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EFF6FF"/>
                </a:solidFill>
                <a:latin typeface="PingFang SC"/>
                <a:ea typeface="PingFang SC"/>
                <a:cs typeface="PingFang SC"/>
              </a:rPr>
              <a:t>马上要跑通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ECBD4F-8A69-4F8C-ADC1-24E9798F3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7527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C9F0"/>
          </a:solidFill>
          <a:ln xmlns:a="http://schemas.openxmlformats.org/drawingml/2006/main" w="0">
            <a:solidFill>
              <a:srgbClr val="4CC9F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FAF6DD-6CE3-43DA-BD48-D4C3F8DF3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628900"/>
            <a:ext cx="2171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FF6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EFF6FF"/>
                </a:solidFill>
                <a:latin typeface="PingFang SC"/>
                <a:ea typeface="PingFang SC"/>
                <a:cs typeface="PingFang SC"/>
              </a:rPr>
              <a:t>WebSocket JSON 控制面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8633E8-D6D6-4B00-815F-45F2A2F76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3051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C9F0"/>
          </a:solidFill>
          <a:ln xmlns:a="http://schemas.openxmlformats.org/drawingml/2006/main" w="0">
            <a:solidFill>
              <a:srgbClr val="4CC9F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34DE52-AE10-41DA-81AE-1F831ED29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181350"/>
            <a:ext cx="2171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FF6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EFF6FF"/>
                </a:solidFill>
                <a:latin typeface="PingFang SC"/>
                <a:ea typeface="PingFang SC"/>
                <a:cs typeface="PingFang SC"/>
              </a:rPr>
              <a:t>OPEN / ACCEPT / HEARTBEAT / CLOSE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2E2B74-4034-4885-B872-B7E8A909B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8576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C9F0"/>
          </a:solidFill>
          <a:ln xmlns:a="http://schemas.openxmlformats.org/drawingml/2006/main" w="0">
            <a:solidFill>
              <a:srgbClr val="4CC9F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34F579-F671-45F8-82B5-A1500070B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733800"/>
            <a:ext cx="2171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FF6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EFF6FF"/>
                </a:solidFill>
                <a:latin typeface="PingFang SC"/>
                <a:ea typeface="PingFang SC"/>
                <a:cs typeface="PingFang SC"/>
              </a:rPr>
              <a:t>device.* / system.* / video.framing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19DFB5-E8CD-4C3D-B8B6-68CD067BD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733550"/>
            <a:ext cx="291465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A2E"/>
          </a:solidFill>
          <a:ln xmlns:a="http://schemas.openxmlformats.org/drawingml/2006/main" w="11430">
            <a:solidFill>
              <a:srgbClr val="62E6A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79423F-57BC-48C9-8A6A-DE2E744AE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943100"/>
            <a:ext cx="590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2E6AC"/>
                </a:solidFill>
                <a:latin typeface="Menlo"/>
                <a:ea typeface="Menlo"/>
                <a:cs typeface="Menlo"/>
              </a:defRPr>
            </a:pPr>
            <a:r>
              <a:rPr sz="2100" b="1">
                <a:solidFill>
                  <a:srgbClr val="62E6AC"/>
                </a:solidFill>
                <a:latin typeface="Menlo"/>
                <a:ea typeface="Menlo"/>
                <a:cs typeface="Menlo"/>
              </a:rPr>
              <a:t>P1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3A1B7DC-476C-4005-9CCD-47DBBDB02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009775"/>
            <a:ext cx="1695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FF6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EFF6FF"/>
                </a:solidFill>
                <a:latin typeface="PingFang SC"/>
                <a:ea typeface="PingFang SC"/>
                <a:cs typeface="PingFang SC"/>
              </a:rPr>
              <a:t>能力和工具补齐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F3552DC-E96D-4CAE-A4A0-90DF69A54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7527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E6AC"/>
          </a:solidFill>
          <a:ln xmlns:a="http://schemas.openxmlformats.org/drawingml/2006/main" w="0">
            <a:solidFill>
              <a:srgbClr val="62E6A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B2B2688-C92D-4608-BF6B-F07C22A8A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628900"/>
            <a:ext cx="2171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FF6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EFF6FF"/>
                </a:solidFill>
                <a:latin typeface="PingFang SC"/>
                <a:ea typeface="PingFang SC"/>
                <a:cs typeface="PingFang SC"/>
              </a:rPr>
              <a:t>camera image / exposure / calibration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72EF11E-77BA-49C6-A502-F8876A165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3051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E6AC"/>
          </a:solidFill>
          <a:ln xmlns:a="http://schemas.openxmlformats.org/drawingml/2006/main" w="0">
            <a:solidFill>
              <a:srgbClr val="62E6A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E2134C6-8F2E-48B1-965D-A6C7695A7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181350"/>
            <a:ext cx="2171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FF6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EFF6FF"/>
                </a:solidFill>
                <a:latin typeface="PingFang SC"/>
                <a:ea typeface="PingFang SC"/>
                <a:cs typeface="PingFang SC"/>
              </a:rPr>
              <a:t>diagnostic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291FA95-3AA7-40E0-A206-E2F603B3C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8576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E6AC"/>
          </a:solidFill>
          <a:ln xmlns:a="http://schemas.openxmlformats.org/drawingml/2006/main" w="0">
            <a:solidFill>
              <a:srgbClr val="62E6A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D914219-FD02-441B-BC22-12EC323E5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733800"/>
            <a:ext cx="2171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FF6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EFF6FF"/>
                </a:solidFill>
                <a:latin typeface="PingFang SC"/>
                <a:ea typeface="PingFang SC"/>
                <a:cs typeface="PingFang SC"/>
              </a:rPr>
              <a:t>axtpctl / probe / inspector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5E622D1-CD1A-4108-B3F5-0E7283F03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733550"/>
            <a:ext cx="291465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A2E"/>
          </a:solidFill>
          <a:ln xmlns:a="http://schemas.openxmlformats.org/drawingml/2006/main" w="11430">
            <a:solidFill>
              <a:srgbClr val="FFB86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227FF9C-9D16-4035-A2DE-A24029EE5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943100"/>
            <a:ext cx="590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B86B"/>
                </a:solidFill>
                <a:latin typeface="Menlo"/>
                <a:ea typeface="Menlo"/>
                <a:cs typeface="Menlo"/>
              </a:defRPr>
            </a:pPr>
            <a:r>
              <a:rPr sz="2100" b="1">
                <a:solidFill>
                  <a:srgbClr val="FFB86B"/>
                </a:solidFill>
                <a:latin typeface="Menlo"/>
                <a:ea typeface="Menlo"/>
                <a:cs typeface="Menlo"/>
              </a:rPr>
              <a:t>P2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4AC9DF6-B211-4935-9AD7-AE636260C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009775"/>
            <a:ext cx="1695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FF6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EFF6FF"/>
                </a:solidFill>
                <a:latin typeface="PingFang SC"/>
                <a:ea typeface="PingFang SC"/>
                <a:cs typeface="PingFang SC"/>
              </a:rPr>
              <a:t>等场景明确后推进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CF00275-8802-4FAB-8581-DD43E6004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7527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6B"/>
          </a:solidFill>
          <a:ln xmlns:a="http://schemas.openxmlformats.org/drawingml/2006/main" w="0">
            <a:solidFill>
              <a:srgbClr val="FFB86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E204F6E-CA01-492A-B10C-D68D135CF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628900"/>
            <a:ext cx="2171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FF6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EFF6FF"/>
                </a:solidFill>
                <a:latin typeface="PingFang SC"/>
                <a:ea typeface="PingFang SC"/>
                <a:cs typeface="PingFang SC"/>
              </a:rPr>
              <a:t>STREAM 完整 profile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09928D7-0466-43FA-BEC0-2EA85C97F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051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6B"/>
          </a:solidFill>
          <a:ln xmlns:a="http://schemas.openxmlformats.org/drawingml/2006/main" w="0">
            <a:solidFill>
              <a:srgbClr val="FFB86B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1F5B54E-EB25-428F-B3BF-326CB938D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181350"/>
            <a:ext cx="2171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FF6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EFF6FF"/>
                </a:solidFill>
                <a:latin typeface="PingFang SC"/>
                <a:ea typeface="PingFang SC"/>
                <a:cs typeface="PingFang SC"/>
              </a:rPr>
              <a:t>ACK / NACK / RESUME / 低带宽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F21431A-C5E3-493D-8040-261D74AA2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8576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6B"/>
          </a:solidFill>
          <a:ln xmlns:a="http://schemas.openxmlformats.org/drawingml/2006/main" w="0">
            <a:solidFill>
              <a:srgbClr val="FFB86B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6205FC0-076D-4D1A-BE63-D585964D8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733800"/>
            <a:ext cx="2171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FF6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EFF6FF"/>
                </a:solidFill>
                <a:latin typeface="PingFang SC"/>
                <a:ea typeface="PingFang SC"/>
                <a:cs typeface="PingFang SC"/>
              </a:rPr>
              <a:t>Rooms / Signage / uxplay / VM33 深迁移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A49FD12-236F-440E-B5F7-0C988838B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391150"/>
            <a:ext cx="8801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A"/>
          </a:solidFill>
          <a:ln xmlns:a="http://schemas.openxmlformats.org/drawingml/2006/main" w="9525">
            <a:solidFill>
              <a:srgbClr val="253B5C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E63FA35-FF75-46A5-BC65-1BBADC05B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514975"/>
            <a:ext cx="8267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EFF6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EFF6FF"/>
                </a:solidFill>
                <a:latin typeface="PingFang SC"/>
                <a:ea typeface="PingFang SC"/>
                <a:cs typeface="PingFang SC"/>
              </a:rPr>
              <a:t>P0 先保证 App、Web、云端、外部 SDK、测试和设备 runtime 都能进入同一条最小闭环。</a:t>
            </a:r>
          </a:p>
        </p:txBody>
      </p:sp>
    </p:spTree>
    <p:extLst>
      <p:ext uri="{BB962C8B-B14F-4D97-AF65-F5344CB8AC3E}">
        <p14:creationId xmlns:p14="http://schemas.microsoft.com/office/powerpoint/2010/main" val="386617712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ED9593B-6DA1-4129-9AC0-F03278322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2C1F84-5870-42FF-8732-237EA2FA7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253B5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6E25A3-DB3A-44E5-B2A5-83C60C2A8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57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C9F0"/>
          </a:solidFill>
          <a:ln xmlns:a="http://schemas.openxmlformats.org/drawingml/2006/main" w="0">
            <a:solidFill>
              <a:srgbClr val="4CC9F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FB3AFA-1219-4947-9ADB-EB4C92B2D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" y="0"/>
            <a:ext cx="4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E6AC"/>
          </a:solidFill>
          <a:ln xmlns:a="http://schemas.openxmlformats.org/drawingml/2006/main" w="0">
            <a:solidFill>
              <a:srgbClr val="62E6A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E3EDB2-4A16-4A9A-864B-1BE7F227E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466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1430">
            <a:solidFill>
              <a:srgbClr val="4CC9F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8B3248-71EC-4DE5-BE32-9CFB0E5EE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7200"/>
            <a:ext cx="1276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CC9F0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4CC9F0"/>
                </a:solidFill>
                <a:latin typeface="PingFang SC"/>
                <a:ea typeface="PingFang SC"/>
                <a:cs typeface="PingFang SC"/>
              </a:rPr>
              <a:t>ACCEPTANCE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14F5D9-7D74-4368-8D22-3E3EFB2C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8191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EFF6FF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EFF6FF"/>
                </a:solidFill>
                <a:latin typeface="PingFang SC"/>
                <a:ea typeface="PingFang SC"/>
                <a:cs typeface="PingFang SC"/>
              </a:rPr>
              <a:t>AXTP 成功不看文档数量，而看四个可验证结果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BF755D-398C-4511-90C7-71C0BF554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748E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F748E"/>
                </a:solidFill>
                <a:latin typeface="PingFang SC"/>
                <a:ea typeface="PingFang SC"/>
                <a:cs typeface="PingFang SC"/>
              </a:rPr>
              <a:t>AXTP Kickoff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A9C33E-623D-42DB-ABB2-4B95348CE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286500"/>
            <a:ext cx="38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748E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5F748E"/>
                </a:solidFill>
                <a:latin typeface="Menlo"/>
                <a:ea typeface="Menlo"/>
                <a:cs typeface="Menlo"/>
              </a:rPr>
              <a:t>12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BDD797-A367-4449-94F9-DC1CA4121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15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3B5C"/>
          </a:solidFill>
          <a:ln xmlns:a="http://schemas.openxmlformats.org/drawingml/2006/main" w="0">
            <a:solidFill>
              <a:srgbClr val="253B5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E3D09D-3567-4696-8E53-25C92609A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714500"/>
            <a:ext cx="92964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A2E"/>
          </a:solidFill>
          <a:ln xmlns:a="http://schemas.openxmlformats.org/drawingml/2006/main" w="11430">
            <a:solidFill>
              <a:srgbClr val="4CC9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88D569-7C2D-4CBC-BE81-51BCBEBE0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857375"/>
            <a:ext cx="514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4CC9F0"/>
                </a:solidFill>
                <a:latin typeface="Menlo"/>
                <a:ea typeface="Menlo"/>
                <a:cs typeface="Menlo"/>
              </a:defRPr>
            </a:pPr>
            <a:r>
              <a:rPr sz="1500" b="1">
                <a:solidFill>
                  <a:srgbClr val="4CC9F0"/>
                </a:solidFill>
                <a:latin typeface="Menlo"/>
                <a:ea typeface="Menlo"/>
                <a:cs typeface="Menlo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A9F935-D91C-4CD8-985C-AD1C0F60E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1876425"/>
            <a:ext cx="7715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FF6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EFF6FF"/>
                </a:solidFill>
                <a:latin typeface="PingFang SC"/>
                <a:ea typeface="PingFang SC"/>
                <a:cs typeface="PingFang SC"/>
              </a:rPr>
              <a:t>新业务能从需求进入草案，再进入 registry 和 generated。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124E91-007A-4617-9BF6-28CDABFC2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52700"/>
            <a:ext cx="92964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A2E"/>
          </a:solidFill>
          <a:ln xmlns:a="http://schemas.openxmlformats.org/drawingml/2006/main" w="11430">
            <a:solidFill>
              <a:srgbClr val="62E6A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B3B011-9C00-4F49-9099-B5B569599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695575"/>
            <a:ext cx="514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2E6AC"/>
                </a:solidFill>
                <a:latin typeface="Menlo"/>
                <a:ea typeface="Menlo"/>
                <a:cs typeface="Menlo"/>
              </a:defRPr>
            </a:pPr>
            <a:r>
              <a:rPr sz="1500" b="1">
                <a:solidFill>
                  <a:srgbClr val="62E6AC"/>
                </a:solidFill>
                <a:latin typeface="Menlo"/>
                <a:ea typeface="Menlo"/>
                <a:cs typeface="Menlo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E3169D-5881-42CE-BC08-A2CE6E654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714625"/>
            <a:ext cx="7715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FF6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EFF6FF"/>
                </a:solidFill>
                <a:latin typeface="PingFang SC"/>
                <a:ea typeface="PingFang SC"/>
                <a:cs typeface="PingFang SC"/>
              </a:rPr>
              <a:t>runtime 能按 spec lock 实现，并通过声明的 conformance。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873BF4-7544-4869-8F9E-0708D3615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390900"/>
            <a:ext cx="92964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A2E"/>
          </a:solidFill>
          <a:ln xmlns:a="http://schemas.openxmlformats.org/drawingml/2006/main" w="11430">
            <a:solidFill>
              <a:srgbClr val="FFB86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1C5829-2D14-42B2-AFD2-DB24F0D73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533775"/>
            <a:ext cx="514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B86B"/>
                </a:solidFill>
                <a:latin typeface="Menlo"/>
                <a:ea typeface="Menlo"/>
                <a:cs typeface="Menlo"/>
              </a:defRPr>
            </a:pPr>
            <a:r>
              <a:rPr sz="1500" b="1">
                <a:solidFill>
                  <a:srgbClr val="FFB86B"/>
                </a:solidFill>
                <a:latin typeface="Menlo"/>
                <a:ea typeface="Menlo"/>
                <a:cs typeface="Menlo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2ED29B-A8D5-4A63-8FE9-5882C0616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552825"/>
            <a:ext cx="7715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FF6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EFF6FF"/>
                </a:solidFill>
                <a:latin typeface="PingFang SC"/>
                <a:ea typeface="PingFang SC"/>
                <a:cs typeface="PingFang SC"/>
              </a:rPr>
              <a:t>测试能明确判断失败归属，而不是靠人工解释。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1E0433-E84A-417B-9773-AB010C0E2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229100"/>
            <a:ext cx="92964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A2E"/>
          </a:solidFill>
          <a:ln xmlns:a="http://schemas.openxmlformats.org/drawingml/2006/main" w="11430">
            <a:solidFill>
              <a:srgbClr val="FF6B8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E9CB8D-39AB-46FD-8B90-4033185D6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371975"/>
            <a:ext cx="514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6B8A"/>
                </a:solidFill>
                <a:latin typeface="Menlo"/>
                <a:ea typeface="Menlo"/>
                <a:cs typeface="Menlo"/>
              </a:defRPr>
            </a:pPr>
            <a:r>
              <a:rPr sz="1500" b="1">
                <a:solidFill>
                  <a:srgbClr val="FF6B8A"/>
                </a:solidFill>
                <a:latin typeface="Menlo"/>
                <a:ea typeface="Menlo"/>
                <a:cs typeface="Menlo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933FE45-7C01-42E7-BB17-17F58C3A7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391025"/>
            <a:ext cx="7715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FF6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EFF6FF"/>
                </a:solidFill>
                <a:latin typeface="PingFang SC"/>
                <a:ea typeface="PingFang SC"/>
                <a:cs typeface="PingFang SC"/>
              </a:rPr>
              <a:t>外部客户能拿到统一 SDK、稳定协议参考和可验证交付物。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602D1E6-1512-497E-B694-387D6F5B1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429250"/>
            <a:ext cx="8001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A"/>
          </a:solidFill>
          <a:ln xmlns:a="http://schemas.openxmlformats.org/drawingml/2006/main" w="9525">
            <a:solidFill>
              <a:srgbClr val="253B5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41AAA0B-CF01-4492-8F12-07B4A02AD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572125"/>
            <a:ext cx="7429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CC9F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4CC9F0"/>
                </a:solidFill>
                <a:latin typeface="PingFang SC"/>
                <a:ea typeface="PingFang SC"/>
                <a:cs typeface="PingFang SC"/>
              </a:rPr>
              <a:t>如果这四件事成立，AXTP 就不只是一套协议格式，而是一套可以持续交付设备能力的工程体系。</a:t>
            </a:r>
          </a:p>
        </p:txBody>
      </p:sp>
    </p:spTree>
    <p:extLst>
      <p:ext uri="{BB962C8B-B14F-4D97-AF65-F5344CB8AC3E}">
        <p14:creationId xmlns:p14="http://schemas.microsoft.com/office/powerpoint/2010/main" val="77686088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2026-06-07T15:18:29.5570000Z</dcterms:created>
  <dcterms:modified xsi:type="dcterms:W3CDTF">2026-06-07T15:18:29.5570000Z</dcterms:modified>
</coreProperties>
</file>